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1" r:id="rId5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2"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Field Manager Pro</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User Guide &amp; Role Responsibilities</a:t>
            </a:r>
          </a:p>
        </p:txBody>
      </p:sp>
      <p:sp>
        <p:nvSpPr>
          <p:cNvPr id="5" name="TextBox 4"/>
          <p:cNvSpPr txBox="1"/>
          <p:nvPr/>
        </p:nvSpPr>
        <p:spPr>
          <a:xfrm>
            <a:off x="182880" y="6565392"/>
            <a:ext cx="11823192" cy="274320"/>
          </a:xfrm>
          <a:prstGeom prst="rect">
            <a:avLst/>
          </a:prstGeom>
          <a:noFill/>
        </p:spPr>
        <p:txBody>
          <a:bodyPr wrap="none">
            <a:spAutoFit/>
          </a:bodyPr>
          <a:lstStyle/>
          <a:p>
            <a:pPr algn="ctr"/>
            <a:r>
              <a:rPr sz="1400">
                <a:solidFill>
                  <a:srgbClr val="BBBBEE"/>
                </a:solidFill>
              </a:rPr>
              <a:t>fieldmanagerpro.app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What is Field Manager Pro?</a:t>
            </a:r>
          </a:p>
        </p:txBody>
      </p:sp>
      <p:sp>
        <p:nvSpPr>
          <p:cNvPr id="3" name="TextBox 2"/>
          <p:cNvSpPr txBox="1"/>
          <p:nvPr/>
        </p:nvSpPr>
        <p:spPr>
          <a:xfrm>
            <a:off x="457200" y="1143000"/>
            <a:ext cx="5943600" cy="640080"/>
          </a:xfrm>
          <a:prstGeom prst="rect">
            <a:avLst/>
          </a:prstGeom>
          <a:noFill/>
        </p:spPr>
        <p:txBody>
          <a:bodyPr wrap="square">
            <a:spAutoFit/>
          </a:bodyPr>
          <a:lstStyle/>
          <a:p>
            <a:pPr algn="l"/>
            <a:r>
              <a:rPr sz="1300" b="0" i="0">
                <a:solidFill>
                  <a:srgbClr val="9CA3AF"/>
                </a:solidFill>
              </a:rPr>
              <a:t>A mobile-first platform for managing field teams, schedules, tasks, and time tracking — all in one place.</a:t>
            </a:r>
          </a:p>
        </p:txBody>
      </p:sp>
      <p:sp>
        <p:nvSpPr>
          <p:cNvPr id="4" name="Oval 3"/>
          <p:cNvSpPr/>
          <p:nvPr/>
        </p:nvSpPr>
        <p:spPr>
          <a:xfrm>
            <a:off x="457200" y="201168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920240"/>
            <a:ext cx="5760720" cy="457200"/>
          </a:xfrm>
          <a:prstGeom prst="rect">
            <a:avLst/>
          </a:prstGeom>
          <a:noFill/>
        </p:spPr>
        <p:txBody>
          <a:bodyPr wrap="square">
            <a:spAutoFit/>
          </a:bodyPr>
          <a:lstStyle/>
          <a:p>
            <a:pPr algn="l"/>
            <a:r>
              <a:rPr sz="1200" b="0" i="0">
                <a:solidFill>
                  <a:srgbClr val="FFFFFF"/>
                </a:solidFill>
              </a:rPr>
              <a:t>Clock In/Out Tracking</a:t>
            </a:r>
          </a:p>
        </p:txBody>
      </p:sp>
      <p:sp>
        <p:nvSpPr>
          <p:cNvPr id="6" name="Oval 5"/>
          <p:cNvSpPr/>
          <p:nvPr/>
        </p:nvSpPr>
        <p:spPr>
          <a:xfrm>
            <a:off x="457200" y="2322576"/>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231136"/>
            <a:ext cx="5760720" cy="457200"/>
          </a:xfrm>
          <a:prstGeom prst="rect">
            <a:avLst/>
          </a:prstGeom>
          <a:noFill/>
        </p:spPr>
        <p:txBody>
          <a:bodyPr wrap="square">
            <a:spAutoFit/>
          </a:bodyPr>
          <a:lstStyle/>
          <a:p>
            <a:pPr algn="l"/>
            <a:r>
              <a:rPr sz="1200" b="0" i="0">
                <a:solidFill>
                  <a:srgbClr val="FFFFFF"/>
                </a:solidFill>
              </a:rPr>
              <a:t>Staff Scheduling</a:t>
            </a:r>
          </a:p>
        </p:txBody>
      </p:sp>
      <p:sp>
        <p:nvSpPr>
          <p:cNvPr id="8" name="Oval 7"/>
          <p:cNvSpPr/>
          <p:nvPr/>
        </p:nvSpPr>
        <p:spPr>
          <a:xfrm>
            <a:off x="457200" y="2633472"/>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542032"/>
            <a:ext cx="5760720" cy="457200"/>
          </a:xfrm>
          <a:prstGeom prst="rect">
            <a:avLst/>
          </a:prstGeom>
          <a:noFill/>
        </p:spPr>
        <p:txBody>
          <a:bodyPr wrap="square">
            <a:spAutoFit/>
          </a:bodyPr>
          <a:lstStyle/>
          <a:p>
            <a:pPr algn="l"/>
            <a:r>
              <a:rPr sz="1200" b="0" i="0">
                <a:solidFill>
                  <a:srgbClr val="FFFFFF"/>
                </a:solidFill>
              </a:rPr>
              <a:t>Task Management</a:t>
            </a:r>
          </a:p>
        </p:txBody>
      </p:sp>
      <p:sp>
        <p:nvSpPr>
          <p:cNvPr id="10" name="Oval 9"/>
          <p:cNvSpPr/>
          <p:nvPr/>
        </p:nvSpPr>
        <p:spPr>
          <a:xfrm>
            <a:off x="457200" y="2944368"/>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852927"/>
            <a:ext cx="5760720" cy="457200"/>
          </a:xfrm>
          <a:prstGeom prst="rect">
            <a:avLst/>
          </a:prstGeom>
          <a:noFill/>
        </p:spPr>
        <p:txBody>
          <a:bodyPr wrap="square">
            <a:spAutoFit/>
          </a:bodyPr>
          <a:lstStyle/>
          <a:p>
            <a:pPr algn="l"/>
            <a:r>
              <a:rPr sz="1200" b="0" i="0">
                <a:solidFill>
                  <a:srgbClr val="FFFFFF"/>
                </a:solidFill>
              </a:rPr>
              <a:t>Timecard Review</a:t>
            </a:r>
          </a:p>
        </p:txBody>
      </p:sp>
      <p:sp>
        <p:nvSpPr>
          <p:cNvPr id="12" name="Oval 11"/>
          <p:cNvSpPr/>
          <p:nvPr/>
        </p:nvSpPr>
        <p:spPr>
          <a:xfrm>
            <a:off x="457200" y="3255263"/>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163823"/>
            <a:ext cx="5760720" cy="457200"/>
          </a:xfrm>
          <a:prstGeom prst="rect">
            <a:avLst/>
          </a:prstGeom>
          <a:noFill/>
        </p:spPr>
        <p:txBody>
          <a:bodyPr wrap="square">
            <a:spAutoFit/>
          </a:bodyPr>
          <a:lstStyle/>
          <a:p>
            <a:pPr algn="l"/>
            <a:r>
              <a:rPr sz="1200" b="0" i="0">
                <a:solidFill>
                  <a:srgbClr val="FFFFFF"/>
                </a:solidFill>
              </a:rPr>
              <a:t>Flags &amp; Alerts</a:t>
            </a:r>
          </a:p>
        </p:txBody>
      </p:sp>
      <p:sp>
        <p:nvSpPr>
          <p:cNvPr id="14" name="Oval 13"/>
          <p:cNvSpPr/>
          <p:nvPr/>
        </p:nvSpPr>
        <p:spPr>
          <a:xfrm>
            <a:off x="457200" y="3566159"/>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474719"/>
            <a:ext cx="5760720" cy="457200"/>
          </a:xfrm>
          <a:prstGeom prst="rect">
            <a:avLst/>
          </a:prstGeom>
          <a:noFill/>
        </p:spPr>
        <p:txBody>
          <a:bodyPr wrap="square">
            <a:spAutoFit/>
          </a:bodyPr>
          <a:lstStyle/>
          <a:p>
            <a:pPr algn="l"/>
            <a:r>
              <a:rPr sz="1200" b="0" i="0">
                <a:solidFill>
                  <a:srgbClr val="FFFFFF"/>
                </a:solidFill>
              </a:rPr>
              <a:t>Store Inspections</a:t>
            </a:r>
          </a:p>
        </p:txBody>
      </p:sp>
      <p:sp>
        <p:nvSpPr>
          <p:cNvPr id="16" name="Oval 15"/>
          <p:cNvSpPr/>
          <p:nvPr/>
        </p:nvSpPr>
        <p:spPr>
          <a:xfrm>
            <a:off x="457200" y="3877055"/>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785615"/>
            <a:ext cx="5760720" cy="457200"/>
          </a:xfrm>
          <a:prstGeom prst="rect">
            <a:avLst/>
          </a:prstGeom>
          <a:noFill/>
        </p:spPr>
        <p:txBody>
          <a:bodyPr wrap="square">
            <a:spAutoFit/>
          </a:bodyPr>
          <a:lstStyle/>
          <a:p>
            <a:pPr algn="l"/>
            <a:r>
              <a:rPr sz="1200" b="0" i="0">
                <a:solidFill>
                  <a:srgbClr val="FFFFFF"/>
                </a:solidFill>
              </a:rPr>
              <a:t>Expense Tracking</a:t>
            </a:r>
          </a:p>
        </p:txBody>
      </p:sp>
      <p:sp>
        <p:nvSpPr>
          <p:cNvPr id="18" name="TextBox 17"/>
          <p:cNvSpPr txBox="1"/>
          <p:nvPr/>
        </p:nvSpPr>
        <p:spPr>
          <a:xfrm>
            <a:off x="457200" y="6035040"/>
            <a:ext cx="5943600" cy="457200"/>
          </a:xfrm>
          <a:prstGeom prst="rect">
            <a:avLst/>
          </a:prstGeom>
          <a:noFill/>
        </p:spPr>
        <p:txBody>
          <a:bodyPr wrap="square">
            <a:spAutoFit/>
          </a:bodyPr>
          <a:lstStyle/>
          <a:p>
            <a:pPr algn="l"/>
            <a:r>
              <a:rPr sz="1200" b="0" i="1">
                <a:solidFill>
                  <a:srgbClr val="9CA3AF"/>
                </a:solidFill>
              </a:rPr>
              <a:t>This guide is organized by role. Find your section and follow along.</a:t>
            </a:r>
          </a:p>
        </p:txBody>
      </p:sp>
      <p:pic>
        <p:nvPicPr>
          <p:cNvPr id="19" name="Picture 18" descr="screen_menu.png"/>
          <p:cNvPicPr>
            <a:picLocks noChangeAspect="1"/>
          </p:cNvPicPr>
          <p:nvPr/>
        </p:nvPicPr>
        <p:blipFill>
          <a:blip r:embed="rId2"/>
          <a:stretch>
            <a:fillRect/>
          </a:stretch>
        </p:blipFill>
        <p:spPr>
          <a:xfrm>
            <a:off x="7955279" y="1234440"/>
            <a:ext cx="2118885" cy="4389120"/>
          </a:xfrm>
          <a:prstGeom prst="rect">
            <a:avLst/>
          </a:prstGeom>
        </p:spPr>
      </p:pic>
      <p:pic>
        <p:nvPicPr>
          <p:cNvPr id="20" name="Picture 19" descr="Icon-1024.png"/>
          <p:cNvPicPr>
            <a:picLocks noChangeAspect="1"/>
          </p:cNvPicPr>
          <p:nvPr/>
        </p:nvPicPr>
        <p:blipFill>
          <a:blip r:embed="rId3"/>
          <a:stretch>
            <a:fillRect/>
          </a:stretch>
        </p:blipFill>
        <p:spPr>
          <a:xfrm>
            <a:off x="10520172" y="5280660"/>
            <a:ext cx="1440180" cy="1440180"/>
          </a:xfrm>
          <a:prstGeom prst="rect">
            <a:avLst/>
          </a:prstGeom>
        </p:spPr>
      </p:pic>
      <p:sp>
        <p:nvSpPr>
          <p:cNvPr id="21" name="Rounded Rectangle 20"/>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Accessing the App</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1. Download the app from the App Store or Google Play</a:t>
            </a:r>
          </a:p>
        </p:txBody>
      </p:sp>
      <p:sp>
        <p:nvSpPr>
          <p:cNvPr id="4" name="TextBox 3"/>
          <p:cNvSpPr txBox="1"/>
          <p:nvPr/>
        </p:nvSpPr>
        <p:spPr>
          <a:xfrm>
            <a:off x="457200" y="1554480"/>
            <a:ext cx="5943600" cy="502920"/>
          </a:xfrm>
          <a:prstGeom prst="rect">
            <a:avLst/>
          </a:prstGeom>
          <a:noFill/>
        </p:spPr>
        <p:txBody>
          <a:bodyPr wrap="square">
            <a:spAutoFit/>
          </a:bodyPr>
          <a:lstStyle/>
          <a:p>
            <a:pPr algn="l"/>
            <a:r>
              <a:rPr sz="1300" b="0" i="0">
                <a:solidFill>
                  <a:srgbClr val="FFFFFF"/>
                </a:solidFill>
              </a:rPr>
              <a:t>2. Or open fieldmanagerpro.app in any browser</a:t>
            </a:r>
          </a:p>
        </p:txBody>
      </p:sp>
      <p:sp>
        <p:nvSpPr>
          <p:cNvPr id="5" name="TextBox 4"/>
          <p:cNvSpPr txBox="1"/>
          <p:nvPr/>
        </p:nvSpPr>
        <p:spPr>
          <a:xfrm>
            <a:off x="457200" y="1920240"/>
            <a:ext cx="5943600" cy="502920"/>
          </a:xfrm>
          <a:prstGeom prst="rect">
            <a:avLst/>
          </a:prstGeom>
          <a:noFill/>
        </p:spPr>
        <p:txBody>
          <a:bodyPr wrap="square">
            <a:spAutoFit/>
          </a:bodyPr>
          <a:lstStyle/>
          <a:p>
            <a:pPr algn="l"/>
            <a:r>
              <a:rPr sz="1300" b="0" i="0">
                <a:solidFill>
                  <a:srgbClr val="FFFFFF"/>
                </a:solidFill>
              </a:rPr>
              <a:t>3. Sign in with your username and password</a:t>
            </a:r>
          </a:p>
        </p:txBody>
      </p:sp>
      <p:sp>
        <p:nvSpPr>
          <p:cNvPr id="6" name="TextBox 5"/>
          <p:cNvSpPr txBox="1"/>
          <p:nvPr/>
        </p:nvSpPr>
        <p:spPr>
          <a:xfrm>
            <a:off x="457200" y="2286000"/>
            <a:ext cx="5943600" cy="502920"/>
          </a:xfrm>
          <a:prstGeom prst="rect">
            <a:avLst/>
          </a:prstGeom>
          <a:noFill/>
        </p:spPr>
        <p:txBody>
          <a:bodyPr wrap="square">
            <a:spAutoFit/>
          </a:bodyPr>
          <a:lstStyle/>
          <a:p>
            <a:pPr algn="l"/>
            <a:r>
              <a:rPr sz="1300" b="0" i="0">
                <a:solidFill>
                  <a:srgbClr val="FFFFFF"/>
                </a:solidFill>
              </a:rPr>
              <a:t>4. Use the navigation menu to switch between sections</a:t>
            </a:r>
          </a:p>
        </p:txBody>
      </p:sp>
      <p:sp>
        <p:nvSpPr>
          <p:cNvPr id="7" name="TextBox 6"/>
          <p:cNvSpPr txBox="1"/>
          <p:nvPr/>
        </p:nvSpPr>
        <p:spPr>
          <a:xfrm>
            <a:off x="457200" y="2651760"/>
            <a:ext cx="5943600" cy="502920"/>
          </a:xfrm>
          <a:prstGeom prst="rect">
            <a:avLst/>
          </a:prstGeom>
          <a:noFill/>
        </p:spPr>
        <p:txBody>
          <a:bodyPr wrap="square">
            <a:spAutoFit/>
          </a:bodyPr>
          <a:lstStyle/>
          <a:p>
            <a:pPr algn="l"/>
            <a:r>
              <a:rPr sz="1300" b="0" i="0">
                <a:solidFill>
                  <a:srgbClr val="FFFFFF"/>
                </a:solidFill>
              </a:rPr>
              <a:t/>
            </a:r>
          </a:p>
        </p:txBody>
      </p:sp>
      <p:sp>
        <p:nvSpPr>
          <p:cNvPr id="8" name="TextBox 7"/>
          <p:cNvSpPr txBox="1"/>
          <p:nvPr/>
        </p:nvSpPr>
        <p:spPr>
          <a:xfrm>
            <a:off x="457200" y="3017520"/>
            <a:ext cx="5943600" cy="502920"/>
          </a:xfrm>
          <a:prstGeom prst="rect">
            <a:avLst/>
          </a:prstGeom>
          <a:noFill/>
        </p:spPr>
        <p:txBody>
          <a:bodyPr wrap="square">
            <a:spAutoFit/>
          </a:bodyPr>
          <a:lstStyle/>
          <a:p>
            <a:pPr algn="l"/>
            <a:r>
              <a:rPr sz="1300" b="0" i="0">
                <a:solidFill>
                  <a:srgbClr val="FFFFFF"/>
                </a:solidFill>
              </a:rPr>
              <a:t>Forgot your password? Tap ‘Forgot your password?’ on the login screen.</a:t>
            </a:r>
          </a:p>
        </p:txBody>
      </p:sp>
      <p:sp>
        <p:nvSpPr>
          <p:cNvPr id="9" name="Rounded Rectangle 8"/>
          <p:cNvSpPr/>
          <p:nvPr/>
        </p:nvSpPr>
        <p:spPr>
          <a:xfrm>
            <a:off x="457200" y="4160520"/>
            <a:ext cx="1691640" cy="384048"/>
          </a:xfrm>
          <a:prstGeom prst="roundRect">
            <a:avLst>
              <a:gd name="adj" fmla="val 10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a:solidFill>
                  <a:srgbClr val="FFFFFF"/>
                </a:solidFill>
              </a:rPr>
              <a:t>🍎  App Store</a:t>
            </a:r>
          </a:p>
        </p:txBody>
      </p:sp>
      <p:sp>
        <p:nvSpPr>
          <p:cNvPr id="10" name="Rounded Rectangle 9"/>
          <p:cNvSpPr/>
          <p:nvPr/>
        </p:nvSpPr>
        <p:spPr>
          <a:xfrm>
            <a:off x="2286000" y="4160520"/>
            <a:ext cx="1691640" cy="384048"/>
          </a:xfrm>
          <a:prstGeom prst="roundRect">
            <a:avLst>
              <a:gd name="adj" fmla="val 10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a:solidFill>
                  <a:srgbClr val="FFFFFF"/>
                </a:solidFill>
              </a:rPr>
              <a:t>▶  Google Play</a:t>
            </a:r>
          </a:p>
        </p:txBody>
      </p:sp>
      <p:sp>
        <p:nvSpPr>
          <p:cNvPr id="11" name="TextBox 10"/>
          <p:cNvSpPr txBox="1"/>
          <p:nvPr/>
        </p:nvSpPr>
        <p:spPr>
          <a:xfrm>
            <a:off x="457200" y="4663440"/>
            <a:ext cx="5943600" cy="365760"/>
          </a:xfrm>
          <a:prstGeom prst="rect">
            <a:avLst/>
          </a:prstGeom>
          <a:noFill/>
        </p:spPr>
        <p:txBody>
          <a:bodyPr wrap="square">
            <a:spAutoFit/>
          </a:bodyPr>
          <a:lstStyle/>
          <a:p>
            <a:pPr algn="l"/>
            <a:r>
              <a:rPr sz="1100" b="0" i="1">
                <a:solidFill>
                  <a:srgbClr val="9CA3AF"/>
                </a:solidFill>
              </a:rPr>
              <a:t>The app is also accessible from any browser at fieldmanagerpro.app</a:t>
            </a:r>
          </a:p>
        </p:txBody>
      </p:sp>
      <p:pic>
        <p:nvPicPr>
          <p:cNvPr id="12" name="Picture 11" descr="screen_menu.png"/>
          <p:cNvPicPr>
            <a:picLocks noChangeAspect="1"/>
          </p:cNvPicPr>
          <p:nvPr/>
        </p:nvPicPr>
        <p:blipFill>
          <a:blip r:embed="rId2"/>
          <a:stretch>
            <a:fillRect/>
          </a:stretch>
        </p:blipFill>
        <p:spPr>
          <a:xfrm>
            <a:off x="7955279" y="1234440"/>
            <a:ext cx="2118885" cy="4389120"/>
          </a:xfrm>
          <a:prstGeom prst="rect">
            <a:avLst/>
          </a:prstGeom>
        </p:spPr>
      </p:pic>
      <p:pic>
        <p:nvPicPr>
          <p:cNvPr id="13" name="Picture 12"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First-Time App Setup (iOS)</a:t>
            </a:r>
          </a:p>
        </p:txBody>
      </p:sp>
      <p:sp>
        <p:nvSpPr>
          <p:cNvPr id="3" name="TextBox 2"/>
          <p:cNvSpPr txBox="1"/>
          <p:nvPr/>
        </p:nvSpPr>
        <p:spPr>
          <a:xfrm>
            <a:off x="457200" y="1097280"/>
            <a:ext cx="6858000" cy="320040"/>
          </a:xfrm>
          <a:prstGeom prst="rect">
            <a:avLst/>
          </a:prstGeom>
          <a:noFill/>
        </p:spPr>
        <p:txBody>
          <a:bodyPr wrap="square">
            <a:spAutoFit/>
          </a:bodyPr>
          <a:lstStyle/>
          <a:p>
            <a:pPr algn="l"/>
            <a:r>
              <a:rPr sz="1300" b="0" i="0">
                <a:solidFill>
                  <a:srgbClr val="9CA3AF"/>
                </a:solidFill>
              </a:rPr>
              <a:t>Complete these two steps the first time you open the app:</a:t>
            </a:r>
          </a:p>
        </p:txBody>
      </p:sp>
      <p:sp>
        <p:nvSpPr>
          <p:cNvPr id="4" name="Rounded Rectangle 3"/>
          <p:cNvSpPr/>
          <p:nvPr/>
        </p:nvSpPr>
        <p:spPr>
          <a:xfrm>
            <a:off x="457200" y="1554480"/>
            <a:ext cx="6858000" cy="205740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4864" cy="20574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45920"/>
            <a:ext cx="6400800" cy="274320"/>
          </a:xfrm>
          <a:prstGeom prst="rect">
            <a:avLst/>
          </a:prstGeom>
          <a:noFill/>
        </p:spPr>
        <p:txBody>
          <a:bodyPr wrap="square">
            <a:spAutoFit/>
          </a:bodyPr>
          <a:lstStyle/>
          <a:p>
            <a:pPr algn="l"/>
            <a:r>
              <a:rPr sz="1400" b="1" i="0">
                <a:solidFill>
                  <a:srgbClr val="6B21A8"/>
                </a:solidFill>
              </a:rPr>
              <a:t>Step 1 — Allow Location Access</a:t>
            </a:r>
          </a:p>
        </p:txBody>
      </p:sp>
      <p:sp>
        <p:nvSpPr>
          <p:cNvPr id="7" name="TextBox 6"/>
          <p:cNvSpPr txBox="1"/>
          <p:nvPr/>
        </p:nvSpPr>
        <p:spPr>
          <a:xfrm>
            <a:off x="685800" y="1965960"/>
            <a:ext cx="6400800" cy="1417320"/>
          </a:xfrm>
          <a:prstGeom prst="rect">
            <a:avLst/>
          </a:prstGeom>
          <a:noFill/>
        </p:spPr>
        <p:txBody>
          <a:bodyPr wrap="square">
            <a:spAutoFit/>
          </a:bodyPr>
          <a:lstStyle/>
          <a:p>
            <a:pPr algn="l"/>
            <a:r>
              <a:rPr sz="1200" b="0" i="0">
                <a:solidFill>
                  <a:srgbClr val="FFFFFF"/>
                </a:solidFill>
              </a:rPr>
              <a:t>When the app asks about location, tap "Allow While Using App".
Then go to:
Settings → Field Manager Pro → Location
→ Select "Always"
This allows GPS tracking to continue while you are clocked in.</a:t>
            </a:r>
          </a:p>
        </p:txBody>
      </p:sp>
      <p:sp>
        <p:nvSpPr>
          <p:cNvPr id="8" name="Rounded Rectangle 7"/>
          <p:cNvSpPr/>
          <p:nvPr/>
        </p:nvSpPr>
        <p:spPr>
          <a:xfrm>
            <a:off x="457200" y="3794760"/>
            <a:ext cx="6858000" cy="141732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3794760"/>
            <a:ext cx="54864"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886200"/>
            <a:ext cx="6400800" cy="274320"/>
          </a:xfrm>
          <a:prstGeom prst="rect">
            <a:avLst/>
          </a:prstGeom>
          <a:noFill/>
        </p:spPr>
        <p:txBody>
          <a:bodyPr wrap="square">
            <a:spAutoFit/>
          </a:bodyPr>
          <a:lstStyle/>
          <a:p>
            <a:pPr algn="l"/>
            <a:r>
              <a:rPr sz="1400" b="1" i="0">
                <a:solidFill>
                  <a:srgbClr val="10B981"/>
                </a:solidFill>
              </a:rPr>
              <a:t>Step 2 — Allow Push Notifications</a:t>
            </a:r>
          </a:p>
        </p:txBody>
      </p:sp>
      <p:sp>
        <p:nvSpPr>
          <p:cNvPr id="11" name="TextBox 10"/>
          <p:cNvSpPr txBox="1"/>
          <p:nvPr/>
        </p:nvSpPr>
        <p:spPr>
          <a:xfrm>
            <a:off x="685800" y="4206240"/>
            <a:ext cx="6400800" cy="777240"/>
          </a:xfrm>
          <a:prstGeom prst="rect">
            <a:avLst/>
          </a:prstGeom>
          <a:noFill/>
        </p:spPr>
        <p:txBody>
          <a:bodyPr wrap="square">
            <a:spAutoFit/>
          </a:bodyPr>
          <a:lstStyle/>
          <a:p>
            <a:pPr algn="l"/>
            <a:r>
              <a:rPr sz="1200" b="0" i="0">
                <a:solidFill>
                  <a:srgbClr val="FFFFFF"/>
                </a:solidFill>
              </a:rPr>
              <a:t>When the app asks to send notifications, tap "Allow".
You’ll receive alerts for new tasks, schedule updates, and more.</a:t>
            </a:r>
          </a:p>
        </p:txBody>
      </p:sp>
      <p:sp>
        <p:nvSpPr>
          <p:cNvPr id="12" name="TextBox 11"/>
          <p:cNvSpPr txBox="1"/>
          <p:nvPr/>
        </p:nvSpPr>
        <p:spPr>
          <a:xfrm>
            <a:off x="457200" y="5486400"/>
            <a:ext cx="6858000" cy="320040"/>
          </a:xfrm>
          <a:prstGeom prst="rect">
            <a:avLst/>
          </a:prstGeom>
          <a:noFill/>
        </p:spPr>
        <p:txBody>
          <a:bodyPr wrap="square">
            <a:spAutoFit/>
          </a:bodyPr>
          <a:lstStyle/>
          <a:p>
            <a:pPr algn="l"/>
            <a:r>
              <a:rPr sz="1100" b="0" i="1">
                <a:solidFill>
                  <a:srgbClr val="9CA3AF"/>
                </a:solidFill>
              </a:rPr>
              <a:t>These steps only appear once. Both can be changed later in your phone’s Settings.</a:t>
            </a:r>
          </a:p>
        </p:txBody>
      </p:sp>
      <p:pic>
        <p:nvPicPr>
          <p:cNvPr id="13" name="Picture 12"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365760"/>
            <a:ext cx="10972800" cy="548640"/>
          </a:xfrm>
          <a:prstGeom prst="rect">
            <a:avLst/>
          </a:prstGeom>
          <a:noFill/>
        </p:spPr>
        <p:txBody>
          <a:bodyPr wrap="square">
            <a:spAutoFit/>
          </a:bodyPr>
          <a:lstStyle/>
          <a:p>
            <a:pPr algn="l"/>
            <a:r>
              <a:rPr sz="2800" b="1" i="0">
                <a:solidFill>
                  <a:srgbClr val="FFFFFF"/>
                </a:solidFill>
              </a:rPr>
              <a:t>General Rules — All Users</a:t>
            </a:r>
          </a:p>
        </p:txBody>
      </p:sp>
      <p:sp>
        <p:nvSpPr>
          <p:cNvPr id="3" name="Rounded Rectangle 2"/>
          <p:cNvSpPr/>
          <p:nvPr/>
        </p:nvSpPr>
        <p:spPr>
          <a:xfrm>
            <a:off x="457200" y="1097280"/>
            <a:ext cx="10972800" cy="1371600"/>
          </a:xfrm>
          <a:prstGeom prst="roundRect">
            <a:avLst>
              <a:gd name="adj" fmla="val 6000"/>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70432"/>
            <a:ext cx="10607040" cy="347472"/>
          </a:xfrm>
          <a:prstGeom prst="rect">
            <a:avLst/>
          </a:prstGeom>
          <a:noFill/>
        </p:spPr>
        <p:txBody>
          <a:bodyPr wrap="square">
            <a:spAutoFit/>
          </a:bodyPr>
          <a:lstStyle/>
          <a:p>
            <a:pPr algn="l"/>
            <a:r>
              <a:rPr sz="1600" b="1" i="0">
                <a:solidFill>
                  <a:srgbClr val="FFFFFF"/>
                </a:solidFill>
              </a:rPr>
              <a:t>⚠  TIME FRAUD POLICY</a:t>
            </a:r>
          </a:p>
        </p:txBody>
      </p:sp>
      <p:sp>
        <p:nvSpPr>
          <p:cNvPr id="5" name="TextBox 4"/>
          <p:cNvSpPr txBox="1"/>
          <p:nvPr/>
        </p:nvSpPr>
        <p:spPr>
          <a:xfrm>
            <a:off x="640080" y="1508760"/>
            <a:ext cx="10332720" cy="502920"/>
          </a:xfrm>
          <a:prstGeom prst="rect">
            <a:avLst/>
          </a:prstGeom>
          <a:noFill/>
        </p:spPr>
        <p:txBody>
          <a:bodyPr wrap="square">
            <a:spAutoFit/>
          </a:bodyPr>
          <a:lstStyle/>
          <a:p>
            <a:pPr algn="l"/>
            <a:r>
              <a:rPr sz="1300" b="0" i="0">
                <a:solidFill>
                  <a:srgbClr val="FFFFFF"/>
                </a:solidFill>
              </a:rPr>
              <a:t>Any attempt to share login credentials or clock in another employee will result in immediate termination.</a:t>
            </a:r>
          </a:p>
        </p:txBody>
      </p:sp>
      <p:sp>
        <p:nvSpPr>
          <p:cNvPr id="6" name="Rounded Rectangle 5"/>
          <p:cNvSpPr/>
          <p:nvPr/>
        </p:nvSpPr>
        <p:spPr>
          <a:xfrm>
            <a:off x="457200" y="2651760"/>
            <a:ext cx="10972800" cy="118872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743200"/>
            <a:ext cx="10332720" cy="1005840"/>
          </a:xfrm>
          <a:prstGeom prst="rect">
            <a:avLst/>
          </a:prstGeom>
          <a:noFill/>
        </p:spPr>
        <p:txBody>
          <a:bodyPr wrap="square">
            <a:spAutoFit/>
          </a:bodyPr>
          <a:lstStyle/>
          <a:p>
            <a:pPr algn="l"/>
            <a:r>
              <a:rPr sz="1300" b="0" i="0">
                <a:solidFill>
                  <a:srgbClr val="9CA3AF"/>
                </a:solidFill>
              </a:rPr>
              <a:t>App Issues: If something isn't working, email your Owner with a description and screenshots of the error. Owner will escalate to the developer.</a:t>
            </a:r>
          </a:p>
        </p:txBody>
      </p:sp>
      <p:sp>
        <p:nvSpPr>
          <p:cNvPr id="8" name="Rounded Rectangle 7"/>
          <p:cNvSpPr/>
          <p:nvPr/>
        </p:nvSpPr>
        <p:spPr>
          <a:xfrm>
            <a:off x="457200" y="4023360"/>
            <a:ext cx="10972800" cy="64008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4187952"/>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114800"/>
            <a:ext cx="10058400" cy="365760"/>
          </a:xfrm>
          <a:prstGeom prst="rect">
            <a:avLst/>
          </a:prstGeom>
          <a:noFill/>
        </p:spPr>
        <p:txBody>
          <a:bodyPr wrap="square">
            <a:spAutoFit/>
          </a:bodyPr>
          <a:lstStyle/>
          <a:p>
            <a:pPr algn="l"/>
            <a:r>
              <a:rPr sz="1300" b="0" i="0">
                <a:solidFill>
                  <a:srgbClr val="FFFFFF"/>
                </a:solidFill>
              </a:rPr>
              <a:t>Never share your login credentials with anyone.</a:t>
            </a:r>
          </a:p>
        </p:txBody>
      </p:sp>
      <p:pic>
        <p:nvPicPr>
          <p:cNvPr id="11" name="Picture 10"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2" name="Rounded Rectangle 11"/>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Employee</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Your guide to using Field Manager Pro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Getting Started</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1. Go to fieldmanagerpro.app</a:t>
            </a:r>
          </a:p>
        </p:txBody>
      </p:sp>
      <p:sp>
        <p:nvSpPr>
          <p:cNvPr id="4" name="TextBox 3"/>
          <p:cNvSpPr txBox="1"/>
          <p:nvPr/>
        </p:nvSpPr>
        <p:spPr>
          <a:xfrm>
            <a:off x="457200" y="1554480"/>
            <a:ext cx="5943600" cy="502920"/>
          </a:xfrm>
          <a:prstGeom prst="rect">
            <a:avLst/>
          </a:prstGeom>
          <a:noFill/>
        </p:spPr>
        <p:txBody>
          <a:bodyPr wrap="square">
            <a:spAutoFit/>
          </a:bodyPr>
          <a:lstStyle/>
          <a:p>
            <a:pPr algn="l"/>
            <a:r>
              <a:rPr sz="1300" b="0" i="0">
                <a:solidFill>
                  <a:srgbClr val="FFFFFF"/>
                </a:solidFill>
              </a:rPr>
              <a:t>2. Enter your username and password</a:t>
            </a:r>
          </a:p>
        </p:txBody>
      </p:sp>
      <p:sp>
        <p:nvSpPr>
          <p:cNvPr id="5" name="TextBox 4"/>
          <p:cNvSpPr txBox="1"/>
          <p:nvPr/>
        </p:nvSpPr>
        <p:spPr>
          <a:xfrm>
            <a:off x="457200" y="1920240"/>
            <a:ext cx="5943600" cy="502920"/>
          </a:xfrm>
          <a:prstGeom prst="rect">
            <a:avLst/>
          </a:prstGeom>
          <a:noFill/>
        </p:spPr>
        <p:txBody>
          <a:bodyPr wrap="square">
            <a:spAutoFit/>
          </a:bodyPr>
          <a:lstStyle/>
          <a:p>
            <a:pPr algn="l"/>
            <a:r>
              <a:rPr sz="1300" b="0" i="0">
                <a:solidFill>
                  <a:srgbClr val="FFFFFF"/>
                </a:solidFill>
              </a:rPr>
              <a:t>3. Tap "Sign In"</a:t>
            </a:r>
          </a:p>
        </p:txBody>
      </p:sp>
      <p:sp>
        <p:nvSpPr>
          <p:cNvPr id="6" name="TextBox 5"/>
          <p:cNvSpPr txBox="1"/>
          <p:nvPr/>
        </p:nvSpPr>
        <p:spPr>
          <a:xfrm>
            <a:off x="457200" y="2286000"/>
            <a:ext cx="5943600" cy="502920"/>
          </a:xfrm>
          <a:prstGeom prst="rect">
            <a:avLst/>
          </a:prstGeom>
          <a:noFill/>
        </p:spPr>
        <p:txBody>
          <a:bodyPr wrap="square">
            <a:spAutoFit/>
          </a:bodyPr>
          <a:lstStyle/>
          <a:p>
            <a:pPr algn="l"/>
            <a:r>
              <a:rPr sz="1300" b="0" i="0">
                <a:solidFill>
                  <a:srgbClr val="FFFFFF"/>
                </a:solidFill>
              </a:rPr>
              <a:t>4. Tap the menu icon (≡) in the top-left corner to explore your sections</a:t>
            </a:r>
          </a:p>
        </p:txBody>
      </p:sp>
      <p:sp>
        <p:nvSpPr>
          <p:cNvPr id="7" name="TextBox 6"/>
          <p:cNvSpPr txBox="1"/>
          <p:nvPr/>
        </p:nvSpPr>
        <p:spPr>
          <a:xfrm>
            <a:off x="457200" y="2788920"/>
            <a:ext cx="5943600" cy="731520"/>
          </a:xfrm>
          <a:prstGeom prst="rect">
            <a:avLst/>
          </a:prstGeom>
          <a:noFill/>
        </p:spPr>
        <p:txBody>
          <a:bodyPr wrap="square">
            <a:spAutoFit/>
          </a:bodyPr>
          <a:lstStyle/>
          <a:p>
            <a:pPr algn="l"/>
            <a:r>
              <a:rPr sz="1200" b="0" i="1">
                <a:solidFill>
                  <a:srgbClr val="9CA3AF"/>
                </a:solidFill>
              </a:rPr>
              <a:t>Your username and temporary password were sent to your email when your account was created.</a:t>
            </a:r>
          </a:p>
        </p:txBody>
      </p:sp>
      <p:sp>
        <p:nvSpPr>
          <p:cNvPr id="8" name="TextBox 7"/>
          <p:cNvSpPr txBox="1"/>
          <p:nvPr/>
        </p:nvSpPr>
        <p:spPr>
          <a:xfrm>
            <a:off x="457200" y="4572000"/>
            <a:ext cx="5943600" cy="320040"/>
          </a:xfrm>
          <a:prstGeom prst="rect">
            <a:avLst/>
          </a:prstGeom>
          <a:noFill/>
        </p:spPr>
        <p:txBody>
          <a:bodyPr wrap="square">
            <a:spAutoFit/>
          </a:bodyPr>
          <a:lstStyle/>
          <a:p>
            <a:pPr algn="l"/>
            <a:r>
              <a:rPr sz="1300" b="0" i="1">
                <a:solidFill>
                  <a:srgbClr val="9CA3AF"/>
                </a:solidFill>
              </a:rPr>
              <a:t>Available on iOS &amp; Android</a:t>
            </a:r>
          </a:p>
        </p:txBody>
      </p:sp>
      <p:sp>
        <p:nvSpPr>
          <p:cNvPr id="9" name="Rounded Rectangle 8"/>
          <p:cNvSpPr/>
          <p:nvPr/>
        </p:nvSpPr>
        <p:spPr>
          <a:xfrm>
            <a:off x="457200" y="4846320"/>
            <a:ext cx="1463040" cy="320040"/>
          </a:xfrm>
          <a:prstGeom prst="roundRect">
            <a:avLst>
              <a:gd name="adj" fmla="val 10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FFFFF"/>
                </a:solidFill>
              </a:rPr>
              <a:t>🍎 App Store</a:t>
            </a:r>
          </a:p>
        </p:txBody>
      </p:sp>
      <p:sp>
        <p:nvSpPr>
          <p:cNvPr id="10" name="Rounded Rectangle 9"/>
          <p:cNvSpPr/>
          <p:nvPr/>
        </p:nvSpPr>
        <p:spPr>
          <a:xfrm>
            <a:off x="2103120" y="4846320"/>
            <a:ext cx="1463040" cy="320040"/>
          </a:xfrm>
          <a:prstGeom prst="roundRect">
            <a:avLst>
              <a:gd name="adj" fmla="val 10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FFFFFF"/>
                </a:solidFill>
              </a:rPr>
              <a:t>▶ Google Play</a:t>
            </a:r>
          </a:p>
        </p:txBody>
      </p:sp>
      <p:sp>
        <p:nvSpPr>
          <p:cNvPr id="11" name="TextBox 10"/>
          <p:cNvSpPr txBox="1"/>
          <p:nvPr/>
        </p:nvSpPr>
        <p:spPr>
          <a:xfrm>
            <a:off x="457200" y="5303520"/>
            <a:ext cx="5943600" cy="411480"/>
          </a:xfrm>
          <a:prstGeom prst="rect">
            <a:avLst/>
          </a:prstGeom>
          <a:noFill/>
        </p:spPr>
        <p:txBody>
          <a:bodyPr wrap="square">
            <a:spAutoFit/>
          </a:bodyPr>
          <a:lstStyle/>
          <a:p>
            <a:pPr algn="l"/>
            <a:r>
              <a:rPr sz="1000" b="0" i="1">
                <a:solidFill>
                  <a:srgbClr val="6B7280"/>
                </a:solidFill>
              </a:rPr>
              <a:t>Coming at launch — download for the best mobile experience</a:t>
            </a:r>
          </a:p>
        </p:txBody>
      </p:sp>
      <p:pic>
        <p:nvPicPr>
          <p:cNvPr id="12" name="Picture 11" descr="screen_login.png"/>
          <p:cNvPicPr>
            <a:picLocks noChangeAspect="1"/>
          </p:cNvPicPr>
          <p:nvPr/>
        </p:nvPicPr>
        <p:blipFill>
          <a:blip r:embed="rId2"/>
          <a:stretch>
            <a:fillRect/>
          </a:stretch>
        </p:blipFill>
        <p:spPr>
          <a:xfrm>
            <a:off x="7955279" y="1234440"/>
            <a:ext cx="2118885" cy="4389120"/>
          </a:xfrm>
          <a:prstGeom prst="rect">
            <a:avLst/>
          </a:prstGeom>
        </p:spPr>
      </p:pic>
      <p:pic>
        <p:nvPicPr>
          <p:cNvPr id="13" name="Picture 12"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Clocking In &amp; Out</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Tap the menu icon (≡) → select Clock In/Out</a:t>
            </a:r>
          </a:p>
        </p:txBody>
      </p:sp>
      <p:sp>
        <p:nvSpPr>
          <p:cNvPr id="4" name="TextBox 3"/>
          <p:cNvSpPr txBox="1"/>
          <p:nvPr/>
        </p:nvSpPr>
        <p:spPr>
          <a:xfrm>
            <a:off x="457200" y="1536192"/>
            <a:ext cx="5943600" cy="502920"/>
          </a:xfrm>
          <a:prstGeom prst="rect">
            <a:avLst/>
          </a:prstGeom>
          <a:noFill/>
        </p:spPr>
        <p:txBody>
          <a:bodyPr wrap="square">
            <a:spAutoFit/>
          </a:bodyPr>
          <a:lstStyle/>
          <a:p>
            <a:pPr algn="l"/>
            <a:r>
              <a:rPr sz="1300" b="0" i="0">
                <a:solidFill>
                  <a:srgbClr val="FFFFFF"/>
                </a:solidFill>
              </a:rPr>
              <a:t>Tap Clock In when you arrive INSIDE the store</a:t>
            </a:r>
          </a:p>
        </p:txBody>
      </p:sp>
      <p:sp>
        <p:nvSpPr>
          <p:cNvPr id="5" name="TextBox 4"/>
          <p:cNvSpPr txBox="1"/>
          <p:nvPr/>
        </p:nvSpPr>
        <p:spPr>
          <a:xfrm>
            <a:off x="457200" y="1883664"/>
            <a:ext cx="5943600" cy="502920"/>
          </a:xfrm>
          <a:prstGeom prst="rect">
            <a:avLst/>
          </a:prstGeom>
          <a:noFill/>
        </p:spPr>
        <p:txBody>
          <a:bodyPr wrap="square">
            <a:spAutoFit/>
          </a:bodyPr>
          <a:lstStyle/>
          <a:p>
            <a:pPr algn="l"/>
            <a:r>
              <a:rPr sz="1300" b="0" i="0">
                <a:solidFill>
                  <a:srgbClr val="FFFFFF"/>
                </a:solidFill>
              </a:rPr>
              <a:t>and are ready to work</a:t>
            </a:r>
          </a:p>
        </p:txBody>
      </p:sp>
      <p:sp>
        <p:nvSpPr>
          <p:cNvPr id="6" name="TextBox 5"/>
          <p:cNvSpPr txBox="1"/>
          <p:nvPr/>
        </p:nvSpPr>
        <p:spPr>
          <a:xfrm>
            <a:off x="457200" y="2231136"/>
            <a:ext cx="5943600" cy="502920"/>
          </a:xfrm>
          <a:prstGeom prst="rect">
            <a:avLst/>
          </a:prstGeom>
          <a:noFill/>
        </p:spPr>
        <p:txBody>
          <a:bodyPr wrap="square">
            <a:spAutoFit/>
          </a:bodyPr>
          <a:lstStyle/>
          <a:p>
            <a:pPr algn="l"/>
            <a:r>
              <a:rPr sz="1300" b="0" i="0">
                <a:solidFill>
                  <a:srgbClr val="FFFFFF"/>
                </a:solidFill>
              </a:rPr>
              <a:t>Tap Clock Out BEFORE leaving the store</a:t>
            </a:r>
          </a:p>
        </p:txBody>
      </p:sp>
      <p:sp>
        <p:nvSpPr>
          <p:cNvPr id="7" name="Rounded Rectangle 6"/>
          <p:cNvSpPr/>
          <p:nvPr/>
        </p:nvSpPr>
        <p:spPr>
          <a:xfrm>
            <a:off x="457200" y="3200400"/>
            <a:ext cx="5943600" cy="1280160"/>
          </a:xfrm>
          <a:prstGeom prst="roundRect">
            <a:avLst>
              <a:gd name="adj" fmla="val 6000"/>
            </a:avLst>
          </a:prstGeom>
          <a:solidFill>
            <a:srgbClr val="783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291840"/>
            <a:ext cx="5577840" cy="274320"/>
          </a:xfrm>
          <a:prstGeom prst="rect">
            <a:avLst/>
          </a:prstGeom>
          <a:noFill/>
        </p:spPr>
        <p:txBody>
          <a:bodyPr wrap="square">
            <a:spAutoFit/>
          </a:bodyPr>
          <a:lstStyle/>
          <a:p>
            <a:pPr algn="l"/>
            <a:r>
              <a:rPr sz="1300" b="1" i="0">
                <a:solidFill>
                  <a:srgbClr val="F59E0B"/>
                </a:solidFill>
              </a:rPr>
              <a:t>IMPORTANT</a:t>
            </a:r>
          </a:p>
        </p:txBody>
      </p:sp>
      <p:sp>
        <p:nvSpPr>
          <p:cNvPr id="9" name="TextBox 8"/>
          <p:cNvSpPr txBox="1"/>
          <p:nvPr/>
        </p:nvSpPr>
        <p:spPr>
          <a:xfrm>
            <a:off x="640080" y="3566160"/>
            <a:ext cx="5577840" cy="777240"/>
          </a:xfrm>
          <a:prstGeom prst="rect">
            <a:avLst/>
          </a:prstGeom>
          <a:noFill/>
        </p:spPr>
        <p:txBody>
          <a:bodyPr wrap="square">
            <a:spAutoFit/>
          </a:bodyPr>
          <a:lstStyle/>
          <a:p>
            <a:pPr algn="l"/>
            <a:r>
              <a:rPr sz="1200" b="0" i="0">
                <a:solidFill>
                  <a:srgbClr val="FFFFFF"/>
                </a:solidFill>
              </a:rPr>
              <a:t>Select your store, then clock in inside the store after you are ready to work. Clock out before leaving — a confirmation dialog will appear. GPS location is recorded at both events. You will receive a push notification 2 minutes before your shift starts and 5 minutes after your shift ends if you are still clocked in.</a:t>
            </a:r>
          </a:p>
        </p:txBody>
      </p:sp>
      <p:pic>
        <p:nvPicPr>
          <p:cNvPr id="10" name="Picture 9" descr="screen_clock.png"/>
          <p:cNvPicPr>
            <a:picLocks noChangeAspect="1"/>
          </p:cNvPicPr>
          <p:nvPr/>
        </p:nvPicPr>
        <p:blipFill>
          <a:blip r:embed="rId2"/>
          <a:stretch>
            <a:fillRect/>
          </a:stretch>
        </p:blipFill>
        <p:spPr>
          <a:xfrm>
            <a:off x="7955279" y="1234440"/>
            <a:ext cx="2118885" cy="4389120"/>
          </a:xfrm>
          <a:prstGeom prst="rect">
            <a:avLst/>
          </a:prstGeom>
        </p:spPr>
      </p:pic>
      <p:pic>
        <p:nvPicPr>
          <p:cNvPr id="11" name="Picture 10"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2" name="Rounded Rectangle 11"/>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Your Schedule</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Your schedule appears on the Home/Dashboard screen</a:t>
            </a:r>
          </a:p>
        </p:txBody>
      </p:sp>
      <p:sp>
        <p:nvSpPr>
          <p:cNvPr id="4" name="TextBox 3"/>
          <p:cNvSpPr txBox="1"/>
          <p:nvPr/>
        </p:nvSpPr>
        <p:spPr>
          <a:xfrm>
            <a:off x="457200" y="1499616"/>
            <a:ext cx="5943600" cy="502920"/>
          </a:xfrm>
          <a:prstGeom prst="rect">
            <a:avLst/>
          </a:prstGeom>
          <a:noFill/>
        </p:spPr>
        <p:txBody>
          <a:bodyPr wrap="square">
            <a:spAutoFit/>
          </a:bodyPr>
          <a:lstStyle/>
          <a:p>
            <a:pPr algn="l"/>
            <a:r>
              <a:rPr sz="1300" b="0" i="0">
                <a:solidFill>
                  <a:srgbClr val="FFFFFF"/>
                </a:solidFill>
              </a:rPr>
              <a:t>when you open the app.</a:t>
            </a:r>
          </a:p>
        </p:txBody>
      </p:sp>
      <p:sp>
        <p:nvSpPr>
          <p:cNvPr id="5" name="TextBox 4"/>
          <p:cNvSpPr txBox="1"/>
          <p:nvPr/>
        </p:nvSpPr>
        <p:spPr>
          <a:xfrm>
            <a:off x="457200" y="1810512"/>
            <a:ext cx="5943600" cy="502920"/>
          </a:xfrm>
          <a:prstGeom prst="rect">
            <a:avLst/>
          </a:prstGeom>
          <a:noFill/>
        </p:spPr>
        <p:txBody>
          <a:bodyPr wrap="square">
            <a:spAutoFit/>
          </a:bodyPr>
          <a:lstStyle/>
          <a:p>
            <a:pPr algn="l"/>
            <a:r>
              <a:rPr sz="1300" b="0" i="0">
                <a:solidFill>
                  <a:srgbClr val="FFFFFF"/>
                </a:solidFill>
              </a:rPr>
              <a:t/>
            </a:r>
          </a:p>
        </p:txBody>
      </p:sp>
      <p:sp>
        <p:nvSpPr>
          <p:cNvPr id="6" name="TextBox 5"/>
          <p:cNvSpPr txBox="1"/>
          <p:nvPr/>
        </p:nvSpPr>
        <p:spPr>
          <a:xfrm>
            <a:off x="457200" y="2121408"/>
            <a:ext cx="5943600" cy="502920"/>
          </a:xfrm>
          <a:prstGeom prst="rect">
            <a:avLst/>
          </a:prstGeom>
          <a:noFill/>
        </p:spPr>
        <p:txBody>
          <a:bodyPr wrap="square">
            <a:spAutoFit/>
          </a:bodyPr>
          <a:lstStyle/>
          <a:p>
            <a:pPr algn="l"/>
            <a:r>
              <a:rPr sz="1300" b="0" i="0">
                <a:solidFill>
                  <a:srgbClr val="FFFFFF"/>
                </a:solidFill>
              </a:rPr>
              <a:t>Your DM posts the schedule. You will see your</a:t>
            </a:r>
          </a:p>
        </p:txBody>
      </p:sp>
      <p:sp>
        <p:nvSpPr>
          <p:cNvPr id="7" name="TextBox 6"/>
          <p:cNvSpPr txBox="1"/>
          <p:nvPr/>
        </p:nvSpPr>
        <p:spPr>
          <a:xfrm>
            <a:off x="457200" y="2432304"/>
            <a:ext cx="5943600" cy="502920"/>
          </a:xfrm>
          <a:prstGeom prst="rect">
            <a:avLst/>
          </a:prstGeom>
          <a:noFill/>
        </p:spPr>
        <p:txBody>
          <a:bodyPr wrap="square">
            <a:spAutoFit/>
          </a:bodyPr>
          <a:lstStyle/>
          <a:p>
            <a:pPr algn="l"/>
            <a:r>
              <a:rPr sz="1300" b="0" i="0">
                <a:solidFill>
                  <a:srgbClr val="FFFFFF"/>
                </a:solidFill>
              </a:rPr>
              <a:t>assigned days and hours.</a:t>
            </a:r>
          </a:p>
        </p:txBody>
      </p:sp>
      <p:sp>
        <p:nvSpPr>
          <p:cNvPr id="8" name="TextBox 7"/>
          <p:cNvSpPr txBox="1"/>
          <p:nvPr/>
        </p:nvSpPr>
        <p:spPr>
          <a:xfrm>
            <a:off x="457200" y="2743200"/>
            <a:ext cx="5943600" cy="502920"/>
          </a:xfrm>
          <a:prstGeom prst="rect">
            <a:avLst/>
          </a:prstGeom>
          <a:noFill/>
        </p:spPr>
        <p:txBody>
          <a:bodyPr wrap="square">
            <a:spAutoFit/>
          </a:bodyPr>
          <a:lstStyle/>
          <a:p>
            <a:pPr algn="l"/>
            <a:r>
              <a:rPr sz="1300" b="0" i="0">
                <a:solidFill>
                  <a:srgbClr val="FFFFFF"/>
                </a:solidFill>
              </a:rPr>
              <a:t/>
            </a:r>
          </a:p>
        </p:txBody>
      </p:sp>
      <p:sp>
        <p:nvSpPr>
          <p:cNvPr id="9" name="TextBox 8"/>
          <p:cNvSpPr txBox="1"/>
          <p:nvPr/>
        </p:nvSpPr>
        <p:spPr>
          <a:xfrm>
            <a:off x="457200" y="3054096"/>
            <a:ext cx="5943600" cy="502920"/>
          </a:xfrm>
          <a:prstGeom prst="rect">
            <a:avLst/>
          </a:prstGeom>
          <a:noFill/>
        </p:spPr>
        <p:txBody>
          <a:bodyPr wrap="square">
            <a:spAutoFit/>
          </a:bodyPr>
          <a:lstStyle/>
          <a:p>
            <a:pPr algn="l"/>
            <a:r>
              <a:rPr sz="1300" b="0" i="0">
                <a:solidFill>
                  <a:srgbClr val="FFFFFF"/>
                </a:solidFill>
              </a:rPr>
              <a:t>If you believe there's an error in your schedule,</a:t>
            </a:r>
          </a:p>
        </p:txBody>
      </p:sp>
      <p:sp>
        <p:nvSpPr>
          <p:cNvPr id="10" name="TextBox 9"/>
          <p:cNvSpPr txBox="1"/>
          <p:nvPr/>
        </p:nvSpPr>
        <p:spPr>
          <a:xfrm>
            <a:off x="457200" y="3364991"/>
            <a:ext cx="5943600" cy="502920"/>
          </a:xfrm>
          <a:prstGeom prst="rect">
            <a:avLst/>
          </a:prstGeom>
          <a:noFill/>
        </p:spPr>
        <p:txBody>
          <a:bodyPr wrap="square">
            <a:spAutoFit/>
          </a:bodyPr>
          <a:lstStyle/>
          <a:p>
            <a:pPr algn="l"/>
            <a:r>
              <a:rPr sz="1300" b="0" i="0">
                <a:solidFill>
                  <a:srgbClr val="FFFFFF"/>
                </a:solidFill>
              </a:rPr>
              <a:t>contact your DM.</a:t>
            </a:r>
          </a:p>
        </p:txBody>
      </p:sp>
      <p:pic>
        <p:nvPicPr>
          <p:cNvPr id="11" name="Picture 10" descr="screen_schedule.png"/>
          <p:cNvPicPr>
            <a:picLocks noChangeAspect="1"/>
          </p:cNvPicPr>
          <p:nvPr/>
        </p:nvPicPr>
        <p:blipFill>
          <a:blip r:embed="rId2"/>
          <a:stretch>
            <a:fillRect/>
          </a:stretch>
        </p:blipFill>
        <p:spPr>
          <a:xfrm>
            <a:off x="7955279" y="1234440"/>
            <a:ext cx="2118885" cy="4389120"/>
          </a:xfrm>
          <a:prstGeom prst="rect">
            <a:avLst/>
          </a:prstGeom>
        </p:spPr>
      </p:pic>
      <p:pic>
        <p:nvPicPr>
          <p:cNvPr id="12" name="Picture 11"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Opening &amp; Closing Checklist</a:t>
            </a:r>
          </a:p>
        </p:txBody>
      </p:sp>
      <p:sp>
        <p:nvSpPr>
          <p:cNvPr id="3" name="TextBox 2"/>
          <p:cNvSpPr txBox="1"/>
          <p:nvPr/>
        </p:nvSpPr>
        <p:spPr>
          <a:xfrm>
            <a:off x="457200" y="1143000"/>
            <a:ext cx="5943600" cy="320040"/>
          </a:xfrm>
          <a:prstGeom prst="rect">
            <a:avLst/>
          </a:prstGeom>
          <a:noFill/>
        </p:spPr>
        <p:txBody>
          <a:bodyPr wrap="square">
            <a:spAutoFit/>
          </a:bodyPr>
          <a:lstStyle/>
          <a:p>
            <a:pPr algn="l"/>
            <a:r>
              <a:rPr sz="1300" b="0" i="0">
                <a:solidFill>
                  <a:srgbClr val="9CA3AF"/>
                </a:solidFill>
              </a:rPr>
              <a:t>Complete a checklist at the start and end of every shift.</a:t>
            </a:r>
          </a:p>
        </p:txBody>
      </p:sp>
      <p:sp>
        <p:nvSpPr>
          <p:cNvPr id="4" name="Rounded Rectangle 3"/>
          <p:cNvSpPr/>
          <p:nvPr/>
        </p:nvSpPr>
        <p:spPr>
          <a:xfrm>
            <a:off x="457200" y="1600200"/>
            <a:ext cx="5943600" cy="150876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00200"/>
            <a:ext cx="54864" cy="1508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486400" cy="256032"/>
          </a:xfrm>
          <a:prstGeom prst="rect">
            <a:avLst/>
          </a:prstGeom>
          <a:noFill/>
        </p:spPr>
        <p:txBody>
          <a:bodyPr wrap="square">
            <a:spAutoFit/>
          </a:bodyPr>
          <a:lstStyle/>
          <a:p>
            <a:pPr algn="l"/>
            <a:r>
              <a:rPr sz="1300" b="1" i="0">
                <a:solidFill>
                  <a:srgbClr val="10B981"/>
                </a:solidFill>
              </a:rPr>
              <a:t>Opening Checklist</a:t>
            </a:r>
          </a:p>
        </p:txBody>
      </p:sp>
      <p:sp>
        <p:nvSpPr>
          <p:cNvPr id="7" name="TextBox 6"/>
          <p:cNvSpPr txBox="1"/>
          <p:nvPr/>
        </p:nvSpPr>
        <p:spPr>
          <a:xfrm>
            <a:off x="685800" y="1993392"/>
            <a:ext cx="5486400" cy="960120"/>
          </a:xfrm>
          <a:prstGeom prst="rect">
            <a:avLst/>
          </a:prstGeom>
          <a:noFill/>
        </p:spPr>
        <p:txBody>
          <a:bodyPr wrap="square">
            <a:spAutoFit/>
          </a:bodyPr>
          <a:lstStyle/>
          <a:p>
            <a:pPr algn="l"/>
            <a:r>
              <a:rPr sz="1100" b="0" i="0">
                <a:solidFill>
                  <a:srgbClr val="FFFFFF"/>
                </a:solidFill>
              </a:rPr>
              <a:t>1. Navigate to Checklist → tap Opening
2. Select your store
3. Check off each item
4. Attach the inventory photo when prompted (item 2)
5. Tap Submit when all items are complete</a:t>
            </a:r>
          </a:p>
        </p:txBody>
      </p:sp>
      <p:sp>
        <p:nvSpPr>
          <p:cNvPr id="8" name="Rounded Rectangle 7"/>
          <p:cNvSpPr/>
          <p:nvPr/>
        </p:nvSpPr>
        <p:spPr>
          <a:xfrm>
            <a:off x="457200" y="3273552"/>
            <a:ext cx="5943600" cy="132588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3273552"/>
            <a:ext cx="54864" cy="13258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364992"/>
            <a:ext cx="5486400" cy="256032"/>
          </a:xfrm>
          <a:prstGeom prst="rect">
            <a:avLst/>
          </a:prstGeom>
          <a:noFill/>
        </p:spPr>
        <p:txBody>
          <a:bodyPr wrap="square">
            <a:spAutoFit/>
          </a:bodyPr>
          <a:lstStyle/>
          <a:p>
            <a:pPr algn="l"/>
            <a:r>
              <a:rPr sz="1300" b="1" i="0">
                <a:solidFill>
                  <a:srgbClr val="F59E0B"/>
                </a:solidFill>
              </a:rPr>
              <a:t>Closing Checklist</a:t>
            </a:r>
          </a:p>
        </p:txBody>
      </p:sp>
      <p:sp>
        <p:nvSpPr>
          <p:cNvPr id="11" name="TextBox 10"/>
          <p:cNvSpPr txBox="1"/>
          <p:nvPr/>
        </p:nvSpPr>
        <p:spPr>
          <a:xfrm>
            <a:off x="685800" y="3657600"/>
            <a:ext cx="5486400" cy="777240"/>
          </a:xfrm>
          <a:prstGeom prst="rect">
            <a:avLst/>
          </a:prstGeom>
          <a:noFill/>
        </p:spPr>
        <p:txBody>
          <a:bodyPr wrap="square">
            <a:spAutoFit/>
          </a:bodyPr>
          <a:lstStyle/>
          <a:p>
            <a:pPr algn="l"/>
            <a:r>
              <a:rPr sz="1100" b="0" i="0">
                <a:solidFill>
                  <a:srgbClr val="FFFFFF"/>
                </a:solidFill>
              </a:rPr>
              <a:t>1. Navigate to Checklist → tap Closing
2. Select your store
3. Check off each item → tap Submit</a:t>
            </a:r>
          </a:p>
        </p:txBody>
      </p:sp>
      <p:sp>
        <p:nvSpPr>
          <p:cNvPr id="12" name="TextBox 11"/>
          <p:cNvSpPr txBox="1"/>
          <p:nvPr/>
        </p:nvSpPr>
        <p:spPr>
          <a:xfrm>
            <a:off x="457200" y="4754880"/>
            <a:ext cx="5943600" cy="411480"/>
          </a:xfrm>
          <a:prstGeom prst="rect">
            <a:avLst/>
          </a:prstGeom>
          <a:noFill/>
        </p:spPr>
        <p:txBody>
          <a:bodyPr wrap="square">
            <a:spAutoFit/>
          </a:bodyPr>
          <a:lstStyle/>
          <a:p>
            <a:pPr algn="l"/>
            <a:r>
              <a:rPr sz="1100" b="0" i="1">
                <a:solidFill>
                  <a:srgbClr val="9CA3AF"/>
                </a:solidFill>
              </a:rPr>
              <a:t>Your DM is notified automatically when you submit. Do not submit until all items are complete.</a:t>
            </a:r>
          </a:p>
        </p:txBody>
      </p:sp>
      <p:pic>
        <p:nvPicPr>
          <p:cNvPr id="13" name="Picture 12" descr="screen_checklist.png"/>
          <p:cNvPicPr>
            <a:picLocks noChangeAspect="1"/>
          </p:cNvPicPr>
          <p:nvPr/>
        </p:nvPicPr>
        <p:blipFill>
          <a:blip r:embed="rId2"/>
          <a:stretch>
            <a:fillRect/>
          </a:stretch>
        </p:blipFill>
        <p:spPr>
          <a:xfrm>
            <a:off x="7955279" y="1234440"/>
            <a:ext cx="2118885" cy="4389120"/>
          </a:xfrm>
          <a:prstGeom prst="rect">
            <a:avLst/>
          </a:prstGeom>
        </p:spPr>
      </p:pic>
      <p:pic>
        <p:nvPicPr>
          <p:cNvPr id="14" name="Picture 13"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5" name="Rounded Rectangle 14"/>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Time History</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Time History to review your past</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clock-in and clock-out records.</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If you notice a discrepancy, notify your DM immediately.</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Your DM may make adjustments to your time entries</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and will notify you when they do.</a:t>
            </a:r>
          </a:p>
        </p:txBody>
      </p:sp>
      <p:pic>
        <p:nvPicPr>
          <p:cNvPr id="10" name="Picture 9" descr="screen_timecards.png"/>
          <p:cNvPicPr>
            <a:picLocks noChangeAspect="1"/>
          </p:cNvPicPr>
          <p:nvPr/>
        </p:nvPicPr>
        <p:blipFill>
          <a:blip r:embed="rId2"/>
          <a:stretch>
            <a:fillRect/>
          </a:stretch>
        </p:blipFill>
        <p:spPr>
          <a:xfrm>
            <a:off x="7955279" y="1234440"/>
            <a:ext cx="2118885" cy="4389120"/>
          </a:xfrm>
          <a:prstGeom prst="rect">
            <a:avLst/>
          </a:prstGeom>
        </p:spPr>
      </p:pic>
      <p:pic>
        <p:nvPicPr>
          <p:cNvPr id="11" name="Picture 10"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2" name="Rounded Rectangle 11"/>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Your Timecards</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Timecards to view your logged hours</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and pay period summaries.</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Your timecard is updated each time you clock in or out.</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If you notice a discrepancy, notify your DM</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immediately so they can make a correction.</a:t>
            </a:r>
          </a:p>
        </p:txBody>
      </p:sp>
      <p:sp>
        <p:nvSpPr>
          <p:cNvPr id="10" name="TextBox 9"/>
          <p:cNvSpPr txBox="1"/>
          <p:nvPr/>
        </p:nvSpPr>
        <p:spPr>
          <a:xfrm>
            <a:off x="457200" y="3429000"/>
            <a:ext cx="5943600" cy="502920"/>
          </a:xfrm>
          <a:prstGeom prst="rect">
            <a:avLst/>
          </a:prstGeom>
          <a:noFill/>
        </p:spPr>
        <p:txBody>
          <a:bodyPr wrap="square">
            <a:spAutoFit/>
          </a:bodyPr>
          <a:lstStyle/>
          <a:p>
            <a:pPr algn="l"/>
            <a:r>
              <a:rPr sz="1300" b="0" i="0">
                <a:solidFill>
                  <a:srgbClr val="FFFFFF"/>
                </a:solidFill>
              </a:rPr>
              <a:t/>
            </a:r>
          </a:p>
        </p:txBody>
      </p:sp>
      <p:sp>
        <p:nvSpPr>
          <p:cNvPr id="11" name="TextBox 10"/>
          <p:cNvSpPr txBox="1"/>
          <p:nvPr/>
        </p:nvSpPr>
        <p:spPr>
          <a:xfrm>
            <a:off x="457200" y="3749040"/>
            <a:ext cx="5943600" cy="502920"/>
          </a:xfrm>
          <a:prstGeom prst="rect">
            <a:avLst/>
          </a:prstGeom>
          <a:noFill/>
        </p:spPr>
        <p:txBody>
          <a:bodyPr wrap="square">
            <a:spAutoFit/>
          </a:bodyPr>
          <a:lstStyle/>
          <a:p>
            <a:pPr algn="l"/>
            <a:r>
              <a:rPr sz="1300" b="0" i="0">
                <a:solidFill>
                  <a:srgbClr val="FFFFFF"/>
                </a:solidFill>
              </a:rPr>
              <a:t>Your DM will notify you if they make any changes</a:t>
            </a:r>
          </a:p>
        </p:txBody>
      </p:sp>
      <p:sp>
        <p:nvSpPr>
          <p:cNvPr id="12" name="TextBox 11"/>
          <p:cNvSpPr txBox="1"/>
          <p:nvPr/>
        </p:nvSpPr>
        <p:spPr>
          <a:xfrm>
            <a:off x="457200" y="4069080"/>
            <a:ext cx="5943600" cy="502920"/>
          </a:xfrm>
          <a:prstGeom prst="rect">
            <a:avLst/>
          </a:prstGeom>
          <a:noFill/>
        </p:spPr>
        <p:txBody>
          <a:bodyPr wrap="square">
            <a:spAutoFit/>
          </a:bodyPr>
          <a:lstStyle/>
          <a:p>
            <a:pPr algn="l"/>
            <a:r>
              <a:rPr sz="1300" b="0" i="0">
                <a:solidFill>
                  <a:srgbClr val="FFFFFF"/>
                </a:solidFill>
              </a:rPr>
              <a:t>to your time entries.</a:t>
            </a:r>
          </a:p>
        </p:txBody>
      </p:sp>
      <p:pic>
        <p:nvPicPr>
          <p:cNvPr id="13" name="Picture 12" descr="screen_timecards.png"/>
          <p:cNvPicPr>
            <a:picLocks noChangeAspect="1"/>
          </p:cNvPicPr>
          <p:nvPr/>
        </p:nvPicPr>
        <p:blipFill>
          <a:blip r:embed="rId2"/>
          <a:stretch>
            <a:fillRect/>
          </a:stretch>
        </p:blipFill>
        <p:spPr>
          <a:xfrm>
            <a:off x="7955279" y="1234440"/>
            <a:ext cx="2118885" cy="4389120"/>
          </a:xfrm>
          <a:prstGeom prst="rect">
            <a:avLst/>
          </a:prstGeom>
        </p:spPr>
      </p:pic>
      <p:pic>
        <p:nvPicPr>
          <p:cNvPr id="14" name="Picture 13"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5" name="Rounded Rectangle 14"/>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365760"/>
            <a:ext cx="10972800" cy="548640"/>
          </a:xfrm>
          <a:prstGeom prst="rect">
            <a:avLst/>
          </a:prstGeom>
          <a:noFill/>
        </p:spPr>
        <p:txBody>
          <a:bodyPr wrap="square">
            <a:spAutoFit/>
          </a:bodyPr>
          <a:lstStyle/>
          <a:p>
            <a:pPr algn="l"/>
            <a:r>
              <a:rPr sz="2800" b="1" i="0">
                <a:solidFill>
                  <a:srgbClr val="6B21A8"/>
                </a:solidFill>
              </a:rPr>
              <a:t>Support &amp; App Issues</a:t>
            </a:r>
          </a:p>
        </p:txBody>
      </p:sp>
      <p:sp>
        <p:nvSpPr>
          <p:cNvPr id="3" name="Rounded Rectangle 2"/>
          <p:cNvSpPr/>
          <p:nvPr/>
        </p:nvSpPr>
        <p:spPr>
          <a:xfrm>
            <a:off x="45720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34440"/>
            <a:ext cx="3200400" cy="960120"/>
          </a:xfrm>
          <a:prstGeom prst="rect">
            <a:avLst/>
          </a:prstGeom>
          <a:noFill/>
        </p:spPr>
        <p:txBody>
          <a:bodyPr wrap="square">
            <a:spAutoFit/>
          </a:bodyPr>
          <a:lstStyle/>
          <a:p>
            <a:pPr algn="l"/>
            <a:r>
              <a:rPr sz="1200" b="0" i="0">
                <a:solidFill>
                  <a:srgbClr val="FFFFFF"/>
                </a:solidFill>
              </a:rPr>
              <a:t>📸  Step 1: Take a screenshot of the error message or issue</a:t>
            </a:r>
          </a:p>
        </p:txBody>
      </p:sp>
      <p:sp>
        <p:nvSpPr>
          <p:cNvPr id="5" name="Rounded Rectangle 4"/>
          <p:cNvSpPr/>
          <p:nvPr/>
        </p:nvSpPr>
        <p:spPr>
          <a:xfrm>
            <a:off x="420624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43400" y="1234440"/>
            <a:ext cx="3200400" cy="960120"/>
          </a:xfrm>
          <a:prstGeom prst="rect">
            <a:avLst/>
          </a:prstGeom>
          <a:noFill/>
        </p:spPr>
        <p:txBody>
          <a:bodyPr wrap="square">
            <a:spAutoFit/>
          </a:bodyPr>
          <a:lstStyle/>
          <a:p>
            <a:pPr algn="l"/>
            <a:r>
              <a:rPr sz="1200" b="0" i="0">
                <a:solidFill>
                  <a:srgbClr val="FFFFFF"/>
                </a:solidFill>
              </a:rPr>
              <a:t>✉  Step 2: Email your Owner with a description and the screenshot attached</a:t>
            </a:r>
          </a:p>
        </p:txBody>
      </p:sp>
      <p:sp>
        <p:nvSpPr>
          <p:cNvPr id="7" name="Rounded Rectangle 6"/>
          <p:cNvSpPr/>
          <p:nvPr/>
        </p:nvSpPr>
        <p:spPr>
          <a:xfrm>
            <a:off x="7955279"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234440"/>
            <a:ext cx="3200400" cy="960120"/>
          </a:xfrm>
          <a:prstGeom prst="rect">
            <a:avLst/>
          </a:prstGeom>
          <a:noFill/>
        </p:spPr>
        <p:txBody>
          <a:bodyPr wrap="square">
            <a:spAutoFit/>
          </a:bodyPr>
          <a:lstStyle/>
          <a:p>
            <a:pPr algn="l"/>
            <a:r>
              <a:rPr sz="1200" b="0" i="0">
                <a:solidFill>
                  <a:srgbClr val="FFFFFF"/>
                </a:solidFill>
              </a:rPr>
              <a:t>📋  Step 3: Owner will forward to the developer for resolution</a:t>
            </a:r>
          </a:p>
        </p:txBody>
      </p:sp>
      <p:sp>
        <p:nvSpPr>
          <p:cNvPr id="9" name="Rounded Rectangle 8"/>
          <p:cNvSpPr/>
          <p:nvPr/>
        </p:nvSpPr>
        <p:spPr>
          <a:xfrm>
            <a:off x="457200" y="2697480"/>
            <a:ext cx="11274552" cy="1188720"/>
          </a:xfrm>
          <a:prstGeom prst="roundRect">
            <a:avLst>
              <a:gd name="adj" fmla="val 6000"/>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88920"/>
            <a:ext cx="10881360" cy="960120"/>
          </a:xfrm>
          <a:prstGeom prst="rect">
            <a:avLst/>
          </a:prstGeom>
          <a:noFill/>
        </p:spPr>
        <p:txBody>
          <a:bodyPr wrap="square">
            <a:spAutoFit/>
          </a:bodyPr>
          <a:lstStyle/>
          <a:p>
            <a:pPr algn="l"/>
            <a:r>
              <a:rPr sz="1400" b="1" i="0">
                <a:solidFill>
                  <a:srgbClr val="FFFFFF"/>
                </a:solidFill>
              </a:rPr>
              <a:t>⚠ Never share your login credentials. Do not clock in for another employee. Time fraud = immediate termination.</a:t>
            </a:r>
          </a:p>
        </p:txBody>
      </p:sp>
      <p:sp>
        <p:nvSpPr>
          <p:cNvPr id="11" name="TextBox 10"/>
          <p:cNvSpPr txBox="1"/>
          <p:nvPr/>
        </p:nvSpPr>
        <p:spPr>
          <a:xfrm>
            <a:off x="457200" y="4069080"/>
            <a:ext cx="10972800" cy="320040"/>
          </a:xfrm>
          <a:prstGeom prst="rect">
            <a:avLst/>
          </a:prstGeom>
          <a:noFill/>
        </p:spPr>
        <p:txBody>
          <a:bodyPr wrap="square">
            <a:spAutoFit/>
          </a:bodyPr>
          <a:lstStyle/>
          <a:p>
            <a:pPr algn="l"/>
            <a:r>
              <a:rPr sz="1200" b="0" i="0">
                <a:solidFill>
                  <a:srgbClr val="9CA3AF"/>
                </a:solidFill>
              </a:rPr>
              <a:t>fieldmanagerpro.app</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DM</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District Manager · Your guide to using Field Manager Pro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10972800" cy="548640"/>
          </a:xfrm>
          <a:prstGeom prst="rect">
            <a:avLst/>
          </a:prstGeom>
          <a:noFill/>
        </p:spPr>
        <p:txBody>
          <a:bodyPr wrap="square">
            <a:spAutoFit/>
          </a:bodyPr>
          <a:lstStyle/>
          <a:p>
            <a:pPr algn="l"/>
            <a:r>
              <a:rPr sz="2800" b="1" i="0">
                <a:solidFill>
                  <a:srgbClr val="6B21A8"/>
                </a:solidFill>
              </a:rPr>
              <a:t>DM Responsibilities</a:t>
            </a:r>
          </a:p>
        </p:txBody>
      </p:sp>
      <p:sp>
        <p:nvSpPr>
          <p:cNvPr id="3" name="Oval 2"/>
          <p:cNvSpPr/>
          <p:nvPr/>
        </p:nvSpPr>
        <p:spPr>
          <a:xfrm>
            <a:off x="457200" y="123444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1143000"/>
            <a:ext cx="10972800" cy="457200"/>
          </a:xfrm>
          <a:prstGeom prst="rect">
            <a:avLst/>
          </a:prstGeom>
          <a:noFill/>
        </p:spPr>
        <p:txBody>
          <a:bodyPr wrap="square">
            <a:spAutoFit/>
          </a:bodyPr>
          <a:lstStyle/>
          <a:p>
            <a:pPr algn="l"/>
            <a:r>
              <a:rPr sz="1300" b="0" i="0">
                <a:solidFill>
                  <a:srgbClr val="FFFFFF"/>
                </a:solidFill>
              </a:rPr>
              <a:t>Manage your assigned team of employees</a:t>
            </a:r>
          </a:p>
        </p:txBody>
      </p:sp>
      <p:sp>
        <p:nvSpPr>
          <p:cNvPr id="5" name="Oval 4"/>
          <p:cNvSpPr/>
          <p:nvPr/>
        </p:nvSpPr>
        <p:spPr>
          <a:xfrm>
            <a:off x="457200" y="1892807"/>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801368"/>
            <a:ext cx="10972800" cy="457200"/>
          </a:xfrm>
          <a:prstGeom prst="rect">
            <a:avLst/>
          </a:prstGeom>
          <a:noFill/>
        </p:spPr>
        <p:txBody>
          <a:bodyPr wrap="square">
            <a:spAutoFit/>
          </a:bodyPr>
          <a:lstStyle/>
          <a:p>
            <a:pPr algn="l"/>
            <a:r>
              <a:rPr sz="1300" b="0" i="0">
                <a:solidFill>
                  <a:srgbClr val="FFFFFF"/>
                </a:solidFill>
              </a:rPr>
              <a:t>Post the store schedule 2 WEEKS in advance at all times</a:t>
            </a:r>
          </a:p>
        </p:txBody>
      </p:sp>
      <p:sp>
        <p:nvSpPr>
          <p:cNvPr id="7" name="Oval 6"/>
          <p:cNvSpPr/>
          <p:nvPr/>
        </p:nvSpPr>
        <p:spPr>
          <a:xfrm>
            <a:off x="457200" y="2551176"/>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459736"/>
            <a:ext cx="10972800" cy="457200"/>
          </a:xfrm>
          <a:prstGeom prst="rect">
            <a:avLst/>
          </a:prstGeom>
          <a:noFill/>
        </p:spPr>
        <p:txBody>
          <a:bodyPr wrap="square">
            <a:spAutoFit/>
          </a:bodyPr>
          <a:lstStyle/>
          <a:p>
            <a:pPr algn="l"/>
            <a:r>
              <a:rPr sz="1300" b="0" i="0">
                <a:solidFill>
                  <a:srgbClr val="FFFFFF"/>
                </a:solidFill>
              </a:rPr>
              <a:t>Review and validate timecards every Monday</a:t>
            </a:r>
          </a:p>
        </p:txBody>
      </p:sp>
      <p:sp>
        <p:nvSpPr>
          <p:cNvPr id="9" name="Oval 8"/>
          <p:cNvSpPr/>
          <p:nvPr/>
        </p:nvSpPr>
        <p:spPr>
          <a:xfrm>
            <a:off x="457200" y="3209544"/>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3118104"/>
            <a:ext cx="10972800" cy="457200"/>
          </a:xfrm>
          <a:prstGeom prst="rect">
            <a:avLst/>
          </a:prstGeom>
          <a:noFill/>
        </p:spPr>
        <p:txBody>
          <a:bodyPr wrap="square">
            <a:spAutoFit/>
          </a:bodyPr>
          <a:lstStyle/>
          <a:p>
            <a:pPr algn="l"/>
            <a:r>
              <a:rPr sz="1300" b="0" i="0">
                <a:solidFill>
                  <a:srgbClr val="FFFFFF"/>
                </a:solidFill>
              </a:rPr>
              <a:t>Check the app for new tasks and flags DAILY</a:t>
            </a:r>
          </a:p>
        </p:txBody>
      </p:sp>
      <p:sp>
        <p:nvSpPr>
          <p:cNvPr id="11" name="Oval 10"/>
          <p:cNvSpPr/>
          <p:nvPr/>
        </p:nvSpPr>
        <p:spPr>
          <a:xfrm>
            <a:off x="457200" y="3867911"/>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776472"/>
            <a:ext cx="10972800" cy="457200"/>
          </a:xfrm>
          <a:prstGeom prst="rect">
            <a:avLst/>
          </a:prstGeom>
          <a:noFill/>
        </p:spPr>
        <p:txBody>
          <a:bodyPr wrap="square">
            <a:spAutoFit/>
          </a:bodyPr>
          <a:lstStyle/>
          <a:p>
            <a:pPr algn="l"/>
            <a:r>
              <a:rPr sz="1300" b="0" i="0">
                <a:solidFill>
                  <a:srgbClr val="FFFFFF"/>
                </a:solidFill>
              </a:rPr>
              <a:t>Clock in when you start your day; clock out only when your shift is fully complete</a:t>
            </a:r>
          </a:p>
        </p:txBody>
      </p:sp>
      <p:sp>
        <p:nvSpPr>
          <p:cNvPr id="13" name="Oval 12"/>
          <p:cNvSpPr/>
          <p:nvPr/>
        </p:nvSpPr>
        <p:spPr>
          <a:xfrm>
            <a:off x="457200" y="4526279"/>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434840"/>
            <a:ext cx="10972800" cy="457200"/>
          </a:xfrm>
          <a:prstGeom prst="rect">
            <a:avLst/>
          </a:prstGeom>
          <a:noFill/>
        </p:spPr>
        <p:txBody>
          <a:bodyPr wrap="square">
            <a:spAutoFit/>
          </a:bodyPr>
          <a:lstStyle/>
          <a:p>
            <a:pPr algn="l"/>
            <a:r>
              <a:rPr sz="1300" b="0" i="0">
                <a:solidFill>
                  <a:srgbClr val="FFFFFF"/>
                </a:solidFill>
              </a:rPr>
              <a:t>You are responsible for your team's performance and schedule compliance</a:t>
            </a:r>
          </a:p>
        </p:txBody>
      </p:sp>
      <p:pic>
        <p:nvPicPr>
          <p:cNvPr id="15" name="Picture 14"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6" name="Rounded Rectangle 15"/>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Adding a New Employee</a:t>
            </a:r>
          </a:p>
        </p:txBody>
      </p:sp>
      <p:sp>
        <p:nvSpPr>
          <p:cNvPr id="3" name="TextBox 2"/>
          <p:cNvSpPr txBox="1"/>
          <p:nvPr/>
        </p:nvSpPr>
        <p:spPr>
          <a:xfrm>
            <a:off x="457200" y="1143000"/>
            <a:ext cx="5943600" cy="320040"/>
          </a:xfrm>
          <a:prstGeom prst="rect">
            <a:avLst/>
          </a:prstGeom>
          <a:noFill/>
        </p:spPr>
        <p:txBody>
          <a:bodyPr wrap="square">
            <a:spAutoFit/>
          </a:bodyPr>
          <a:lstStyle/>
          <a:p>
            <a:pPr algn="l"/>
            <a:r>
              <a:rPr sz="1300" b="0" i="0">
                <a:solidFill>
                  <a:srgbClr val="9CA3AF"/>
                </a:solidFill>
              </a:rPr>
              <a:t>When you hire a new team member, add them to the app the same day.</a:t>
            </a:r>
          </a:p>
        </p:txBody>
      </p:sp>
      <p:sp>
        <p:nvSpPr>
          <p:cNvPr id="4" name="TextBox 3"/>
          <p:cNvSpPr txBox="1"/>
          <p:nvPr/>
        </p:nvSpPr>
        <p:spPr>
          <a:xfrm>
            <a:off x="457200" y="1600200"/>
            <a:ext cx="5943600" cy="502920"/>
          </a:xfrm>
          <a:prstGeom prst="rect">
            <a:avLst/>
          </a:prstGeom>
          <a:noFill/>
        </p:spPr>
        <p:txBody>
          <a:bodyPr wrap="square">
            <a:spAutoFit/>
          </a:bodyPr>
          <a:lstStyle/>
          <a:p>
            <a:pPr algn="l"/>
            <a:r>
              <a:rPr sz="1300" b="0" i="0">
                <a:solidFill>
                  <a:srgbClr val="FFFFFF"/>
                </a:solidFill>
              </a:rPr>
              <a:t>1. Navigate to Team</a:t>
            </a:r>
          </a:p>
        </p:txBody>
      </p:sp>
      <p:sp>
        <p:nvSpPr>
          <p:cNvPr id="5" name="TextBox 4"/>
          <p:cNvSpPr txBox="1"/>
          <p:nvPr/>
        </p:nvSpPr>
        <p:spPr>
          <a:xfrm>
            <a:off x="457200" y="1965960"/>
            <a:ext cx="5943600" cy="502920"/>
          </a:xfrm>
          <a:prstGeom prst="rect">
            <a:avLst/>
          </a:prstGeom>
          <a:noFill/>
        </p:spPr>
        <p:txBody>
          <a:bodyPr wrap="square">
            <a:spAutoFit/>
          </a:bodyPr>
          <a:lstStyle/>
          <a:p>
            <a:pPr algn="l"/>
            <a:r>
              <a:rPr sz="1300" b="0" i="0">
                <a:solidFill>
                  <a:srgbClr val="FFFFFF"/>
                </a:solidFill>
              </a:rPr>
              <a:t>2. Tap "+ Add User"</a:t>
            </a:r>
          </a:p>
        </p:txBody>
      </p:sp>
      <p:sp>
        <p:nvSpPr>
          <p:cNvPr id="6" name="TextBox 5"/>
          <p:cNvSpPr txBox="1"/>
          <p:nvPr/>
        </p:nvSpPr>
        <p:spPr>
          <a:xfrm>
            <a:off x="457200" y="2331720"/>
            <a:ext cx="5943600" cy="502920"/>
          </a:xfrm>
          <a:prstGeom prst="rect">
            <a:avLst/>
          </a:prstGeom>
          <a:noFill/>
        </p:spPr>
        <p:txBody>
          <a:bodyPr wrap="square">
            <a:spAutoFit/>
          </a:bodyPr>
          <a:lstStyle/>
          <a:p>
            <a:pPr algn="l"/>
            <a:r>
              <a:rPr sz="1300" b="0" i="0">
                <a:solidFill>
                  <a:srgbClr val="FFFFFF"/>
                </a:solidFill>
              </a:rPr>
              <a:t>3. Enter their full name</a:t>
            </a:r>
          </a:p>
        </p:txBody>
      </p:sp>
      <p:sp>
        <p:nvSpPr>
          <p:cNvPr id="7" name="TextBox 6"/>
          <p:cNvSpPr txBox="1"/>
          <p:nvPr/>
        </p:nvSpPr>
        <p:spPr>
          <a:xfrm>
            <a:off x="457200" y="2697479"/>
            <a:ext cx="5943600" cy="502920"/>
          </a:xfrm>
          <a:prstGeom prst="rect">
            <a:avLst/>
          </a:prstGeom>
          <a:noFill/>
        </p:spPr>
        <p:txBody>
          <a:bodyPr wrap="square">
            <a:spAutoFit/>
          </a:bodyPr>
          <a:lstStyle/>
          <a:p>
            <a:pPr algn="l"/>
            <a:r>
              <a:rPr sz="1300" b="0" i="0">
                <a:solidFill>
                  <a:srgbClr val="FFFFFF"/>
                </a:solidFill>
              </a:rPr>
              <a:t>4. Create a username  (e.g. first initial + last name: jsmith)</a:t>
            </a:r>
          </a:p>
        </p:txBody>
      </p:sp>
      <p:sp>
        <p:nvSpPr>
          <p:cNvPr id="8" name="TextBox 7"/>
          <p:cNvSpPr txBox="1"/>
          <p:nvPr/>
        </p:nvSpPr>
        <p:spPr>
          <a:xfrm>
            <a:off x="457200" y="3063239"/>
            <a:ext cx="5943600" cy="502920"/>
          </a:xfrm>
          <a:prstGeom prst="rect">
            <a:avLst/>
          </a:prstGeom>
          <a:noFill/>
        </p:spPr>
        <p:txBody>
          <a:bodyPr wrap="square">
            <a:spAutoFit/>
          </a:bodyPr>
          <a:lstStyle/>
          <a:p>
            <a:pPr algn="l"/>
            <a:r>
              <a:rPr sz="1300" b="0" i="0">
                <a:solidFill>
                  <a:srgbClr val="FFFFFF"/>
                </a:solidFill>
              </a:rPr>
              <a:t>5. Set a temporary password they will use to first log in</a:t>
            </a:r>
          </a:p>
        </p:txBody>
      </p:sp>
      <p:sp>
        <p:nvSpPr>
          <p:cNvPr id="9" name="TextBox 8"/>
          <p:cNvSpPr txBox="1"/>
          <p:nvPr/>
        </p:nvSpPr>
        <p:spPr>
          <a:xfrm>
            <a:off x="457200" y="3428999"/>
            <a:ext cx="5943600" cy="502920"/>
          </a:xfrm>
          <a:prstGeom prst="rect">
            <a:avLst/>
          </a:prstGeom>
          <a:noFill/>
        </p:spPr>
        <p:txBody>
          <a:bodyPr wrap="square">
            <a:spAutoFit/>
          </a:bodyPr>
          <a:lstStyle/>
          <a:p>
            <a:pPr algn="l"/>
            <a:r>
              <a:rPr sz="1300" b="0" i="0">
                <a:solidFill>
                  <a:srgbClr val="FFFFFF"/>
                </a:solidFill>
              </a:rPr>
              <a:t>6. Tap Create — account is submitted for approval</a:t>
            </a:r>
          </a:p>
        </p:txBody>
      </p:sp>
      <p:sp>
        <p:nvSpPr>
          <p:cNvPr id="10" name="Rounded Rectangle 9"/>
          <p:cNvSpPr/>
          <p:nvPr/>
        </p:nvSpPr>
        <p:spPr>
          <a:xfrm>
            <a:off x="457200" y="3886200"/>
            <a:ext cx="5943600" cy="141732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886200"/>
            <a:ext cx="54864" cy="14173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77639"/>
            <a:ext cx="5486400" cy="256032"/>
          </a:xfrm>
          <a:prstGeom prst="rect">
            <a:avLst/>
          </a:prstGeom>
          <a:noFill/>
        </p:spPr>
        <p:txBody>
          <a:bodyPr wrap="square">
            <a:spAutoFit/>
          </a:bodyPr>
          <a:lstStyle/>
          <a:p>
            <a:pPr algn="l"/>
            <a:r>
              <a:rPr sz="1300" b="1" i="0">
                <a:solidFill>
                  <a:srgbClr val="6B21A8"/>
                </a:solidFill>
              </a:rPr>
              <a:t>After creating the account</a:t>
            </a:r>
          </a:p>
          <a:p>
            <a:pPr algn="l"/>
            <a:r>
              <a:t>Do NOT share login credentials with the employee yet — their account is inactive until approved. Once an Owner, Sales Director, or Ops Manager approves the request, the employee will automatically receive a welcome email with their login details.</a:t>
            </a:r>
          </a:p>
        </p:txBody>
      </p:sp>
      <p:pic>
        <p:nvPicPr>
          <p:cNvPr id="14" name="Picture 13" descr="screen_team.png"/>
          <p:cNvPicPr>
            <a:picLocks noChangeAspect="1"/>
          </p:cNvPicPr>
          <p:nvPr/>
        </p:nvPicPr>
        <p:blipFill>
          <a:blip r:embed="rId2"/>
          <a:stretch>
            <a:fillRect/>
          </a:stretch>
        </p:blipFill>
        <p:spPr>
          <a:xfrm>
            <a:off x="7955279" y="1234440"/>
            <a:ext cx="2118885" cy="4389120"/>
          </a:xfrm>
          <a:prstGeom prst="rect">
            <a:avLst/>
          </a:prstGeom>
        </p:spPr>
      </p:pic>
      <p:pic>
        <p:nvPicPr>
          <p:cNvPr id="15" name="Picture 14"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6" name="Rounded Rectangle 15"/>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Creating the Staff Schedule</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1. Navigate to Staff Schedule</a:t>
            </a:r>
          </a:p>
        </p:txBody>
      </p:sp>
      <p:sp>
        <p:nvSpPr>
          <p:cNvPr id="4" name="TextBox 3"/>
          <p:cNvSpPr txBox="1"/>
          <p:nvPr/>
        </p:nvSpPr>
        <p:spPr>
          <a:xfrm>
            <a:off x="457200" y="1572768"/>
            <a:ext cx="5943600" cy="502920"/>
          </a:xfrm>
          <a:prstGeom prst="rect">
            <a:avLst/>
          </a:prstGeom>
          <a:noFill/>
        </p:spPr>
        <p:txBody>
          <a:bodyPr wrap="square">
            <a:spAutoFit/>
          </a:bodyPr>
          <a:lstStyle/>
          <a:p>
            <a:pPr algn="l"/>
            <a:r>
              <a:rPr sz="1300" b="0" i="0">
                <a:solidFill>
                  <a:srgbClr val="FFFFFF"/>
                </a:solidFill>
              </a:rPr>
              <a:t>2. Select the week using the arrows</a:t>
            </a:r>
          </a:p>
        </p:txBody>
      </p:sp>
      <p:sp>
        <p:nvSpPr>
          <p:cNvPr id="5" name="TextBox 4"/>
          <p:cNvSpPr txBox="1"/>
          <p:nvPr/>
        </p:nvSpPr>
        <p:spPr>
          <a:xfrm>
            <a:off x="457200" y="1956816"/>
            <a:ext cx="5943600" cy="502920"/>
          </a:xfrm>
          <a:prstGeom prst="rect">
            <a:avLst/>
          </a:prstGeom>
          <a:noFill/>
        </p:spPr>
        <p:txBody>
          <a:bodyPr wrap="square">
            <a:spAutoFit/>
          </a:bodyPr>
          <a:lstStyle/>
          <a:p>
            <a:pPr algn="l"/>
            <a:r>
              <a:rPr sz="1300" b="0" i="0">
                <a:solidFill>
                  <a:srgbClr val="FFFFFF"/>
                </a:solidFill>
              </a:rPr>
              <a:t>3. Tap + Add Shift</a:t>
            </a:r>
          </a:p>
        </p:txBody>
      </p:sp>
      <p:sp>
        <p:nvSpPr>
          <p:cNvPr id="6" name="TextBox 5"/>
          <p:cNvSpPr txBox="1"/>
          <p:nvPr/>
        </p:nvSpPr>
        <p:spPr>
          <a:xfrm>
            <a:off x="457200" y="2340864"/>
            <a:ext cx="5943600" cy="502920"/>
          </a:xfrm>
          <a:prstGeom prst="rect">
            <a:avLst/>
          </a:prstGeom>
          <a:noFill/>
        </p:spPr>
        <p:txBody>
          <a:bodyPr wrap="square">
            <a:spAutoFit/>
          </a:bodyPr>
          <a:lstStyle/>
          <a:p>
            <a:pPr algn="l"/>
            <a:r>
              <a:rPr sz="1300" b="0" i="0">
                <a:solidFill>
                  <a:srgbClr val="FFFFFF"/>
                </a:solidFill>
              </a:rPr>
              <a:t>4. Select employee, date, start time, end time</a:t>
            </a:r>
          </a:p>
        </p:txBody>
      </p:sp>
      <p:sp>
        <p:nvSpPr>
          <p:cNvPr id="7" name="TextBox 6"/>
          <p:cNvSpPr txBox="1"/>
          <p:nvPr/>
        </p:nvSpPr>
        <p:spPr>
          <a:xfrm>
            <a:off x="457200" y="2724912"/>
            <a:ext cx="5943600" cy="502920"/>
          </a:xfrm>
          <a:prstGeom prst="rect">
            <a:avLst/>
          </a:prstGeom>
          <a:noFill/>
        </p:spPr>
        <p:txBody>
          <a:bodyPr wrap="square">
            <a:spAutoFit/>
          </a:bodyPr>
          <a:lstStyle/>
          <a:p>
            <a:pPr algn="l"/>
            <a:r>
              <a:rPr sz="1300" b="0" i="0">
                <a:solidFill>
                  <a:srgbClr val="FFFFFF"/>
                </a:solidFill>
              </a:rPr>
              <a:t>5. Tap Publish to make schedule visible to your team</a:t>
            </a:r>
          </a:p>
        </p:txBody>
      </p:sp>
      <p:pic>
        <p:nvPicPr>
          <p:cNvPr id="8" name="Picture 7" descr="screen_staff_schedule.png"/>
          <p:cNvPicPr>
            <a:picLocks noChangeAspect="1"/>
          </p:cNvPicPr>
          <p:nvPr/>
        </p:nvPicPr>
        <p:blipFill>
          <a:blip r:embed="rId2"/>
          <a:stretch>
            <a:fillRect/>
          </a:stretch>
        </p:blipFill>
        <p:spPr>
          <a:xfrm>
            <a:off x="7955279" y="1234440"/>
            <a:ext cx="2118885" cy="4389120"/>
          </a:xfrm>
          <a:prstGeom prst="rect">
            <a:avLst/>
          </a:prstGeom>
        </p:spPr>
      </p:pic>
      <p:pic>
        <p:nvPicPr>
          <p:cNvPr id="9" name="Picture 8"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0" name="Rounded Rectangle 9"/>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6858000" cy="548640"/>
          </a:xfrm>
          <a:prstGeom prst="rect">
            <a:avLst/>
          </a:prstGeom>
          <a:noFill/>
        </p:spPr>
        <p:txBody>
          <a:bodyPr wrap="square">
            <a:spAutoFit/>
          </a:bodyPr>
          <a:lstStyle/>
          <a:p>
            <a:pPr algn="l"/>
            <a:r>
              <a:rPr sz="2800" b="1" i="0">
                <a:solidFill>
                  <a:srgbClr val="6B21A8"/>
                </a:solidFill>
              </a:rPr>
              <a:t>Schedule Requirements</a:t>
            </a:r>
          </a:p>
        </p:txBody>
      </p:sp>
      <p:sp>
        <p:nvSpPr>
          <p:cNvPr id="3" name="Rounded Rectangle 2"/>
          <p:cNvSpPr/>
          <p:nvPr/>
        </p:nvSpPr>
        <p:spPr>
          <a:xfrm>
            <a:off x="457200" y="1188720"/>
            <a:ext cx="6858000" cy="118872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88720"/>
            <a:ext cx="54864" cy="118872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61872"/>
            <a:ext cx="6400800" cy="274320"/>
          </a:xfrm>
          <a:prstGeom prst="rect">
            <a:avLst/>
          </a:prstGeom>
          <a:noFill/>
        </p:spPr>
        <p:txBody>
          <a:bodyPr wrap="square">
            <a:spAutoFit/>
          </a:bodyPr>
          <a:lstStyle/>
          <a:p>
            <a:pPr algn="l"/>
            <a:r>
              <a:rPr sz="1300" b="1" i="0">
                <a:solidFill>
                  <a:srgbClr val="FFFFFF"/>
                </a:solidFill>
              </a:rPr>
              <a:t>Employee schedules must be posted 2 WEEKS in advance.</a:t>
            </a:r>
          </a:p>
        </p:txBody>
      </p:sp>
      <p:sp>
        <p:nvSpPr>
          <p:cNvPr id="6" name="TextBox 5"/>
          <p:cNvSpPr txBox="1"/>
          <p:nvPr/>
        </p:nvSpPr>
        <p:spPr>
          <a:xfrm>
            <a:off x="685800" y="1536192"/>
            <a:ext cx="6400800" cy="457200"/>
          </a:xfrm>
          <a:prstGeom prst="rect">
            <a:avLst/>
          </a:prstGeom>
          <a:noFill/>
        </p:spPr>
        <p:txBody>
          <a:bodyPr wrap="square">
            <a:spAutoFit/>
          </a:bodyPr>
          <a:lstStyle/>
          <a:p>
            <a:pPr algn="l"/>
            <a:r>
              <a:rPr sz="1100" b="0" i="1">
                <a:solidFill>
                  <a:srgbClr val="9CA3AF"/>
                </a:solidFill>
              </a:rPr>
              <a:t>Example: Today is Monday, April 14 → Schedule must be complete through Sunday, April 27</a:t>
            </a:r>
          </a:p>
        </p:txBody>
      </p:sp>
      <p:sp>
        <p:nvSpPr>
          <p:cNvPr id="7" name="Rounded Rectangle 6"/>
          <p:cNvSpPr/>
          <p:nvPr/>
        </p:nvSpPr>
        <p:spPr>
          <a:xfrm>
            <a:off x="457200" y="2651760"/>
            <a:ext cx="6858000" cy="73152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651760"/>
            <a:ext cx="54864" cy="7315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43200"/>
            <a:ext cx="6400800" cy="502920"/>
          </a:xfrm>
          <a:prstGeom prst="rect">
            <a:avLst/>
          </a:prstGeom>
          <a:noFill/>
        </p:spPr>
        <p:txBody>
          <a:bodyPr wrap="square">
            <a:spAutoFit/>
          </a:bodyPr>
          <a:lstStyle/>
          <a:p>
            <a:pPr algn="l"/>
            <a:r>
              <a:rPr sz="1300" b="1" i="0">
                <a:solidFill>
                  <a:srgbClr val="EF4444"/>
                </a:solidFill>
              </a:rPr>
              <a:t>⚠  Schedules must be posted on time — late posting is a compliance violation.</a:t>
            </a:r>
          </a:p>
        </p:txBody>
      </p:sp>
      <p:pic>
        <p:nvPicPr>
          <p:cNvPr id="10" name="Picture 9" descr="screen_staff_schedule.png"/>
          <p:cNvPicPr>
            <a:picLocks noChangeAspect="1"/>
          </p:cNvPicPr>
          <p:nvPr/>
        </p:nvPicPr>
        <p:blipFill>
          <a:blip r:embed="rId2"/>
          <a:stretch>
            <a:fillRect/>
          </a:stretch>
        </p:blipFill>
        <p:spPr>
          <a:xfrm>
            <a:off x="7955279" y="1234440"/>
            <a:ext cx="2118885" cy="4389120"/>
          </a:xfrm>
          <a:prstGeom prst="rect">
            <a:avLst/>
          </a:prstGeom>
        </p:spPr>
      </p:pic>
      <p:pic>
        <p:nvPicPr>
          <p:cNvPr id="11" name="Picture 10"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2" name="Rounded Rectangle 11"/>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Timecard Review</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Timecards in the nav bar</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REQUIRED: Complete timecard review every Monday</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1. Review each employee's clock-in/out</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2. If an entry looks incorrect, tap it</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3. Edit the time</a:t>
            </a:r>
          </a:p>
        </p:txBody>
      </p:sp>
      <p:sp>
        <p:nvSpPr>
          <p:cNvPr id="10" name="TextBox 9"/>
          <p:cNvSpPr txBox="1"/>
          <p:nvPr/>
        </p:nvSpPr>
        <p:spPr>
          <a:xfrm>
            <a:off x="457200" y="3429000"/>
            <a:ext cx="5943600" cy="502920"/>
          </a:xfrm>
          <a:prstGeom prst="rect">
            <a:avLst/>
          </a:prstGeom>
          <a:noFill/>
        </p:spPr>
        <p:txBody>
          <a:bodyPr wrap="square">
            <a:spAutoFit/>
          </a:bodyPr>
          <a:lstStyle/>
          <a:p>
            <a:pPr algn="l"/>
            <a:r>
              <a:rPr sz="1300" b="0" i="0">
                <a:solidFill>
                  <a:srgbClr val="FFFFFF"/>
                </a:solidFill>
              </a:rPr>
              <a:t>4. Add a note explaining the change</a:t>
            </a:r>
          </a:p>
        </p:txBody>
      </p:sp>
      <p:sp>
        <p:nvSpPr>
          <p:cNvPr id="11" name="TextBox 10"/>
          <p:cNvSpPr txBox="1"/>
          <p:nvPr/>
        </p:nvSpPr>
        <p:spPr>
          <a:xfrm>
            <a:off x="457200" y="3749040"/>
            <a:ext cx="5943600" cy="502920"/>
          </a:xfrm>
          <a:prstGeom prst="rect">
            <a:avLst/>
          </a:prstGeom>
          <a:noFill/>
        </p:spPr>
        <p:txBody>
          <a:bodyPr wrap="square">
            <a:spAutoFit/>
          </a:bodyPr>
          <a:lstStyle/>
          <a:p>
            <a:pPr algn="l"/>
            <a:r>
              <a:rPr sz="1300" b="0" i="0">
                <a:solidFill>
                  <a:srgbClr val="FFFFFF"/>
                </a:solidFill>
              </a:rPr>
              <a:t>5. Save — employee is notified</a:t>
            </a:r>
          </a:p>
        </p:txBody>
      </p:sp>
      <p:pic>
        <p:nvPicPr>
          <p:cNvPr id="12" name="Picture 11" descr="screen_timecards.png"/>
          <p:cNvPicPr>
            <a:picLocks noChangeAspect="1"/>
          </p:cNvPicPr>
          <p:nvPr/>
        </p:nvPicPr>
        <p:blipFill>
          <a:blip r:embed="rId2"/>
          <a:stretch>
            <a:fillRect/>
          </a:stretch>
        </p:blipFill>
        <p:spPr>
          <a:xfrm>
            <a:off x="7955279" y="1234440"/>
            <a:ext cx="2118885" cy="4389120"/>
          </a:xfrm>
          <a:prstGeom prst="rect">
            <a:avLst/>
          </a:prstGeom>
        </p:spPr>
      </p:pic>
      <p:pic>
        <p:nvPicPr>
          <p:cNvPr id="13" name="Picture 12"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Managing Your Tasks</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Tasks to view tasks assigned to you.</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Check for new tasks DAILY.</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To complete a task:</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  Tap the circle → Add a note (optional)</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  → Add a photo if required → Tap Mark Complete</a:t>
            </a:r>
          </a:p>
        </p:txBody>
      </p:sp>
      <p:sp>
        <p:nvSpPr>
          <p:cNvPr id="10" name="TextBox 9"/>
          <p:cNvSpPr txBox="1"/>
          <p:nvPr/>
        </p:nvSpPr>
        <p:spPr>
          <a:xfrm>
            <a:off x="457200" y="3429000"/>
            <a:ext cx="5943600" cy="502920"/>
          </a:xfrm>
          <a:prstGeom prst="rect">
            <a:avLst/>
          </a:prstGeom>
          <a:noFill/>
        </p:spPr>
        <p:txBody>
          <a:bodyPr wrap="square">
            <a:spAutoFit/>
          </a:bodyPr>
          <a:lstStyle/>
          <a:p>
            <a:pPr algn="l"/>
            <a:r>
              <a:rPr sz="1300" b="0" i="0">
                <a:solidFill>
                  <a:srgbClr val="FFFFFF"/>
                </a:solidFill>
              </a:rPr>
              <a:t/>
            </a:r>
          </a:p>
        </p:txBody>
      </p:sp>
      <p:sp>
        <p:nvSpPr>
          <p:cNvPr id="11" name="TextBox 10"/>
          <p:cNvSpPr txBox="1"/>
          <p:nvPr/>
        </p:nvSpPr>
        <p:spPr>
          <a:xfrm>
            <a:off x="457200" y="3749040"/>
            <a:ext cx="5943600" cy="502920"/>
          </a:xfrm>
          <a:prstGeom prst="rect">
            <a:avLst/>
          </a:prstGeom>
          <a:noFill/>
        </p:spPr>
        <p:txBody>
          <a:bodyPr wrap="square">
            <a:spAutoFit/>
          </a:bodyPr>
          <a:lstStyle/>
          <a:p>
            <a:pPr algn="l"/>
            <a:r>
              <a:rPr sz="1300" b="0" i="0">
                <a:solidFill>
                  <a:srgbClr val="FFFFFF"/>
                </a:solidFill>
              </a:rPr>
              <a:t>Tasks show a due date — complete them on time.</a:t>
            </a:r>
          </a:p>
        </p:txBody>
      </p:sp>
      <p:pic>
        <p:nvPicPr>
          <p:cNvPr id="12" name="Picture 11" descr="screen_tasks.png"/>
          <p:cNvPicPr>
            <a:picLocks noChangeAspect="1"/>
          </p:cNvPicPr>
          <p:nvPr/>
        </p:nvPicPr>
        <p:blipFill>
          <a:blip r:embed="rId2"/>
          <a:stretch>
            <a:fillRect/>
          </a:stretch>
        </p:blipFill>
        <p:spPr>
          <a:xfrm>
            <a:off x="7955279" y="1234440"/>
            <a:ext cx="2118885" cy="4389120"/>
          </a:xfrm>
          <a:prstGeom prst="rect">
            <a:avLst/>
          </a:prstGeom>
        </p:spPr>
      </p:pic>
      <p:pic>
        <p:nvPicPr>
          <p:cNvPr id="13" name="Picture 12"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Reviewing Flags</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Flags are automatically created when unusual time activity is detected.</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Common flag types: Missed Clock-Out | Overtime Alert</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  | Late Clock-In | Missing Schedule</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Check flags DAILY. Resolve each flag with a note explaining what happened.</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
            </a:r>
          </a:p>
        </p:txBody>
      </p:sp>
      <p:sp>
        <p:nvSpPr>
          <p:cNvPr id="10" name="TextBox 9"/>
          <p:cNvSpPr txBox="1"/>
          <p:nvPr/>
        </p:nvSpPr>
        <p:spPr>
          <a:xfrm>
            <a:off x="457200" y="3429000"/>
            <a:ext cx="5943600" cy="502920"/>
          </a:xfrm>
          <a:prstGeom prst="rect">
            <a:avLst/>
          </a:prstGeom>
          <a:noFill/>
        </p:spPr>
        <p:txBody>
          <a:bodyPr wrap="square">
            <a:spAutoFit/>
          </a:bodyPr>
          <a:lstStyle/>
          <a:p>
            <a:pPr algn="l"/>
            <a:r>
              <a:rPr sz="1300" b="0" i="0">
                <a:solidFill>
                  <a:srgbClr val="FFFFFF"/>
                </a:solidFill>
              </a:rPr>
              <a:t>1. Navigate to Flags</a:t>
            </a:r>
          </a:p>
        </p:txBody>
      </p:sp>
      <p:sp>
        <p:nvSpPr>
          <p:cNvPr id="11" name="TextBox 10"/>
          <p:cNvSpPr txBox="1"/>
          <p:nvPr/>
        </p:nvSpPr>
        <p:spPr>
          <a:xfrm>
            <a:off x="457200" y="3749040"/>
            <a:ext cx="5943600" cy="502920"/>
          </a:xfrm>
          <a:prstGeom prst="rect">
            <a:avLst/>
          </a:prstGeom>
          <a:noFill/>
        </p:spPr>
        <p:txBody>
          <a:bodyPr wrap="square">
            <a:spAutoFit/>
          </a:bodyPr>
          <a:lstStyle/>
          <a:p>
            <a:pPr algn="l"/>
            <a:r>
              <a:rPr sz="1300" b="0" i="0">
                <a:solidFill>
                  <a:srgbClr val="FFFFFF"/>
                </a:solidFill>
              </a:rPr>
              <a:t>2. Tap a flag to view details</a:t>
            </a:r>
          </a:p>
        </p:txBody>
      </p:sp>
      <p:sp>
        <p:nvSpPr>
          <p:cNvPr id="12" name="TextBox 11"/>
          <p:cNvSpPr txBox="1"/>
          <p:nvPr/>
        </p:nvSpPr>
        <p:spPr>
          <a:xfrm>
            <a:off x="457200" y="4069080"/>
            <a:ext cx="5943600" cy="502920"/>
          </a:xfrm>
          <a:prstGeom prst="rect">
            <a:avLst/>
          </a:prstGeom>
          <a:noFill/>
        </p:spPr>
        <p:txBody>
          <a:bodyPr wrap="square">
            <a:spAutoFit/>
          </a:bodyPr>
          <a:lstStyle/>
          <a:p>
            <a:pPr algn="l"/>
            <a:r>
              <a:rPr sz="1300" b="0" i="0">
                <a:solidFill>
                  <a:srgbClr val="FFFFFF"/>
                </a:solidFill>
              </a:rPr>
              <a:t>3. Enter resolution note</a:t>
            </a:r>
          </a:p>
        </p:txBody>
      </p:sp>
      <p:sp>
        <p:nvSpPr>
          <p:cNvPr id="13" name="TextBox 12"/>
          <p:cNvSpPr txBox="1"/>
          <p:nvPr/>
        </p:nvSpPr>
        <p:spPr>
          <a:xfrm>
            <a:off x="457200" y="4389120"/>
            <a:ext cx="5943600" cy="502920"/>
          </a:xfrm>
          <a:prstGeom prst="rect">
            <a:avLst/>
          </a:prstGeom>
          <a:noFill/>
        </p:spPr>
        <p:txBody>
          <a:bodyPr wrap="square">
            <a:spAutoFit/>
          </a:bodyPr>
          <a:lstStyle/>
          <a:p>
            <a:pPr algn="l"/>
            <a:r>
              <a:rPr sz="1300" b="0" i="0">
                <a:solidFill>
                  <a:srgbClr val="FFFFFF"/>
                </a:solidFill>
              </a:rPr>
              <a:t>4. Tap Resolve</a:t>
            </a:r>
          </a:p>
        </p:txBody>
      </p:sp>
      <p:pic>
        <p:nvPicPr>
          <p:cNvPr id="14" name="Picture 13" descr="screen_flags.png"/>
          <p:cNvPicPr>
            <a:picLocks noChangeAspect="1"/>
          </p:cNvPicPr>
          <p:nvPr/>
        </p:nvPicPr>
        <p:blipFill>
          <a:blip r:embed="rId2"/>
          <a:stretch>
            <a:fillRect/>
          </a:stretch>
        </p:blipFill>
        <p:spPr>
          <a:xfrm>
            <a:off x="7955279" y="1234440"/>
            <a:ext cx="2118885" cy="4389120"/>
          </a:xfrm>
          <a:prstGeom prst="rect">
            <a:avLst/>
          </a:prstGeom>
        </p:spPr>
      </p:pic>
      <p:pic>
        <p:nvPicPr>
          <p:cNvPr id="15" name="Picture 14"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6" name="Rounded Rectangle 15"/>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DM Clock In &amp; Out</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As a DM, clock in when you START your workday.</a:t>
            </a:r>
          </a:p>
        </p:txBody>
      </p:sp>
      <p:sp>
        <p:nvSpPr>
          <p:cNvPr id="4" name="TextBox 3"/>
          <p:cNvSpPr txBox="1"/>
          <p:nvPr/>
        </p:nvSpPr>
        <p:spPr>
          <a:xfrm>
            <a:off x="457200" y="1536192"/>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83664"/>
            <a:ext cx="5943600" cy="502920"/>
          </a:xfrm>
          <a:prstGeom prst="rect">
            <a:avLst/>
          </a:prstGeom>
          <a:noFill/>
        </p:spPr>
        <p:txBody>
          <a:bodyPr wrap="square">
            <a:spAutoFit/>
          </a:bodyPr>
          <a:lstStyle/>
          <a:p>
            <a:pPr algn="l"/>
            <a:r>
              <a:rPr sz="1300" b="0" i="0">
                <a:solidFill>
                  <a:srgbClr val="FFFFFF"/>
                </a:solidFill>
              </a:rPr>
              <a:t>Clock out ONLY when your shift is completely finished for the day.</a:t>
            </a:r>
          </a:p>
        </p:txBody>
      </p:sp>
      <p:sp>
        <p:nvSpPr>
          <p:cNvPr id="6" name="TextBox 5"/>
          <p:cNvSpPr txBox="1"/>
          <p:nvPr/>
        </p:nvSpPr>
        <p:spPr>
          <a:xfrm>
            <a:off x="457200" y="2231136"/>
            <a:ext cx="5943600" cy="502920"/>
          </a:xfrm>
          <a:prstGeom prst="rect">
            <a:avLst/>
          </a:prstGeom>
          <a:noFill/>
        </p:spPr>
        <p:txBody>
          <a:bodyPr wrap="square">
            <a:spAutoFit/>
          </a:bodyPr>
          <a:lstStyle/>
          <a:p>
            <a:pPr algn="l"/>
            <a:r>
              <a:rPr sz="1300" b="0" i="0">
                <a:solidFill>
                  <a:srgbClr val="FFFFFF"/>
                </a:solidFill>
              </a:rPr>
              <a:t/>
            </a:r>
          </a:p>
        </p:txBody>
      </p:sp>
      <p:sp>
        <p:nvSpPr>
          <p:cNvPr id="7" name="TextBox 6"/>
          <p:cNvSpPr txBox="1"/>
          <p:nvPr/>
        </p:nvSpPr>
        <p:spPr>
          <a:xfrm>
            <a:off x="457200" y="2578608"/>
            <a:ext cx="5943600" cy="502920"/>
          </a:xfrm>
          <a:prstGeom prst="rect">
            <a:avLst/>
          </a:prstGeom>
          <a:noFill/>
        </p:spPr>
        <p:txBody>
          <a:bodyPr wrap="square">
            <a:spAutoFit/>
          </a:bodyPr>
          <a:lstStyle/>
          <a:p>
            <a:pPr algn="l"/>
            <a:r>
              <a:rPr sz="1300" b="0" i="0">
                <a:solidFill>
                  <a:srgbClr val="FFFFFF"/>
                </a:solidFill>
              </a:rPr>
              <a:t>GPS is recorded — your location is logged at clock-in and clock-out. Unlike employees, DMs do not need to select a store location when clocking in. You will receive a push notification at 9:00 AM if you have not yet clocked in, and at 8:00 PM if you are still clocked in.</a:t>
            </a:r>
          </a:p>
        </p:txBody>
      </p:sp>
      <p:sp>
        <p:nvSpPr>
          <p:cNvPr id="8" name="TextBox 7"/>
          <p:cNvSpPr txBox="1"/>
          <p:nvPr/>
        </p:nvSpPr>
        <p:spPr>
          <a:xfrm>
            <a:off x="457200" y="2926079"/>
            <a:ext cx="5943600" cy="502920"/>
          </a:xfrm>
          <a:prstGeom prst="rect">
            <a:avLst/>
          </a:prstGeom>
          <a:noFill/>
        </p:spPr>
        <p:txBody>
          <a:bodyPr wrap="square">
            <a:spAutoFit/>
          </a:bodyPr>
          <a:lstStyle/>
          <a:p>
            <a:pPr algn="l"/>
            <a:r>
              <a:rPr sz="1300" b="0" i="0">
                <a:solidFill>
                  <a:srgbClr val="FFFFFF"/>
                </a:solidFill>
              </a:rPr>
              <a:t/>
            </a:r>
          </a:p>
        </p:txBody>
      </p:sp>
      <p:sp>
        <p:nvSpPr>
          <p:cNvPr id="9" name="TextBox 8"/>
          <p:cNvSpPr txBox="1"/>
          <p:nvPr/>
        </p:nvSpPr>
        <p:spPr>
          <a:xfrm>
            <a:off x="457200" y="3273551"/>
            <a:ext cx="5943600" cy="502920"/>
          </a:xfrm>
          <a:prstGeom prst="rect">
            <a:avLst/>
          </a:prstGeom>
          <a:noFill/>
        </p:spPr>
        <p:txBody>
          <a:bodyPr wrap="square">
            <a:spAutoFit/>
          </a:bodyPr>
          <a:lstStyle/>
          <a:p>
            <a:pPr algn="l"/>
            <a:r>
              <a:rPr sz="1300" b="0" i="0">
                <a:solidFill>
                  <a:srgbClr val="FFFFFF"/>
                </a:solidFill>
              </a:rPr>
              <a:t>Do not clock in for employees or allow others to clock in for you.</a:t>
            </a:r>
          </a:p>
        </p:txBody>
      </p:sp>
      <p:pic>
        <p:nvPicPr>
          <p:cNvPr id="10" name="Picture 9" descr="screen_clock.png"/>
          <p:cNvPicPr>
            <a:picLocks noChangeAspect="1"/>
          </p:cNvPicPr>
          <p:nvPr/>
        </p:nvPicPr>
        <p:blipFill>
          <a:blip r:embed="rId2"/>
          <a:stretch>
            <a:fillRect/>
          </a:stretch>
        </p:blipFill>
        <p:spPr>
          <a:xfrm>
            <a:off x="7955279" y="1234440"/>
            <a:ext cx="2118885" cy="4389120"/>
          </a:xfrm>
          <a:prstGeom prst="rect">
            <a:avLst/>
          </a:prstGeom>
        </p:spPr>
      </p:pic>
      <p:pic>
        <p:nvPicPr>
          <p:cNvPr id="11" name="Picture 10"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2" name="Rounded Rectangle 11"/>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Checklist Dashboard</a:t>
            </a:r>
          </a:p>
        </p:txBody>
      </p:sp>
      <p:sp>
        <p:nvSpPr>
          <p:cNvPr id="3" name="TextBox 2"/>
          <p:cNvSpPr txBox="1"/>
          <p:nvPr/>
        </p:nvSpPr>
        <p:spPr>
          <a:xfrm>
            <a:off x="457200" y="1143000"/>
            <a:ext cx="5943600" cy="365760"/>
          </a:xfrm>
          <a:prstGeom prst="rect">
            <a:avLst/>
          </a:prstGeom>
          <a:noFill/>
        </p:spPr>
        <p:txBody>
          <a:bodyPr wrap="square">
            <a:spAutoFit/>
          </a:bodyPr>
          <a:lstStyle/>
          <a:p>
            <a:pPr algn="l"/>
            <a:r>
              <a:rPr sz="1300" b="0" i="0">
                <a:solidFill>
                  <a:srgbClr val="9CA3AF"/>
                </a:solidFill>
              </a:rPr>
              <a:t>Monitor opening and closing submissions across your stores in real time.</a:t>
            </a:r>
          </a:p>
        </p:txBody>
      </p:sp>
      <p:sp>
        <p:nvSpPr>
          <p:cNvPr id="4" name="TextBox 3"/>
          <p:cNvSpPr txBox="1"/>
          <p:nvPr/>
        </p:nvSpPr>
        <p:spPr>
          <a:xfrm>
            <a:off x="457200" y="1645920"/>
            <a:ext cx="5943600" cy="502920"/>
          </a:xfrm>
          <a:prstGeom prst="rect">
            <a:avLst/>
          </a:prstGeom>
          <a:noFill/>
        </p:spPr>
        <p:txBody>
          <a:bodyPr wrap="square">
            <a:spAutoFit/>
          </a:bodyPr>
          <a:lstStyle/>
          <a:p>
            <a:pPr algn="l"/>
            <a:r>
              <a:rPr sz="1300" b="0" i="0">
                <a:solidFill>
                  <a:srgbClr val="FFFFFF"/>
                </a:solidFill>
              </a:rPr>
              <a:t>1. Navigate to Checklist → tap Dashboard</a:t>
            </a:r>
          </a:p>
        </p:txBody>
      </p:sp>
      <p:sp>
        <p:nvSpPr>
          <p:cNvPr id="5" name="TextBox 4"/>
          <p:cNvSpPr txBox="1"/>
          <p:nvPr/>
        </p:nvSpPr>
        <p:spPr>
          <a:xfrm>
            <a:off x="457200" y="1993392"/>
            <a:ext cx="5943600" cy="502920"/>
          </a:xfrm>
          <a:prstGeom prst="rect">
            <a:avLst/>
          </a:prstGeom>
          <a:noFill/>
        </p:spPr>
        <p:txBody>
          <a:bodyPr wrap="square">
            <a:spAutoFit/>
          </a:bodyPr>
          <a:lstStyle/>
          <a:p>
            <a:pPr algn="l"/>
            <a:r>
              <a:rPr sz="1300" b="0" i="0">
                <a:solidFill>
                  <a:srgbClr val="FFFFFF"/>
                </a:solidFill>
              </a:rPr>
              <a:t>2. Use the date picker to select any day</a:t>
            </a:r>
          </a:p>
        </p:txBody>
      </p:sp>
      <p:sp>
        <p:nvSpPr>
          <p:cNvPr id="6" name="TextBox 5"/>
          <p:cNvSpPr txBox="1"/>
          <p:nvPr/>
        </p:nvSpPr>
        <p:spPr>
          <a:xfrm>
            <a:off x="457200" y="2340864"/>
            <a:ext cx="5943600" cy="502920"/>
          </a:xfrm>
          <a:prstGeom prst="rect">
            <a:avLst/>
          </a:prstGeom>
          <a:noFill/>
        </p:spPr>
        <p:txBody>
          <a:bodyPr wrap="square">
            <a:spAutoFit/>
          </a:bodyPr>
          <a:lstStyle/>
          <a:p>
            <a:pPr algn="l"/>
            <a:r>
              <a:rPr sz="1300" b="0" i="0">
                <a:solidFill>
                  <a:srgbClr val="FFFFFF"/>
                </a:solidFill>
              </a:rPr>
              <a:t>3. Each store shows Opening and Closing status:</a:t>
            </a:r>
          </a:p>
        </p:txBody>
      </p:sp>
      <p:sp>
        <p:nvSpPr>
          <p:cNvPr id="7" name="Rounded Rectangle 6"/>
          <p:cNvSpPr/>
          <p:nvPr/>
        </p:nvSpPr>
        <p:spPr>
          <a:xfrm>
            <a:off x="457200" y="2724912"/>
            <a:ext cx="2743200" cy="50292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724912"/>
            <a:ext cx="54864"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816352"/>
            <a:ext cx="2468880" cy="274320"/>
          </a:xfrm>
          <a:prstGeom prst="rect">
            <a:avLst/>
          </a:prstGeom>
          <a:noFill/>
        </p:spPr>
        <p:txBody>
          <a:bodyPr wrap="square">
            <a:spAutoFit/>
          </a:bodyPr>
          <a:lstStyle/>
          <a:p>
            <a:pPr algn="l"/>
            <a:r>
              <a:rPr sz="1300" b="0" i="0">
                <a:solidFill>
                  <a:srgbClr val="10B981"/>
                </a:solidFill>
              </a:rPr>
              <a:t>✅  Submitted</a:t>
            </a:r>
          </a:p>
        </p:txBody>
      </p:sp>
      <p:sp>
        <p:nvSpPr>
          <p:cNvPr id="10" name="Rounded Rectangle 9"/>
          <p:cNvSpPr/>
          <p:nvPr/>
        </p:nvSpPr>
        <p:spPr>
          <a:xfrm>
            <a:off x="3383280" y="2724912"/>
            <a:ext cx="3017520" cy="50292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2724912"/>
            <a:ext cx="54864"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816352"/>
            <a:ext cx="2651760" cy="274320"/>
          </a:xfrm>
          <a:prstGeom prst="rect">
            <a:avLst/>
          </a:prstGeom>
          <a:noFill/>
        </p:spPr>
        <p:txBody>
          <a:bodyPr wrap="square">
            <a:spAutoFit/>
          </a:bodyPr>
          <a:lstStyle/>
          <a:p>
            <a:pPr algn="l"/>
            <a:r>
              <a:rPr sz="1300" b="0" i="0">
                <a:solidFill>
                  <a:srgbClr val="EF4444"/>
                </a:solidFill>
              </a:rPr>
              <a:t>🔴  Not yet submitted</a:t>
            </a:r>
          </a:p>
        </p:txBody>
      </p:sp>
      <p:sp>
        <p:nvSpPr>
          <p:cNvPr id="13" name="TextBox 12"/>
          <p:cNvSpPr txBox="1"/>
          <p:nvPr/>
        </p:nvSpPr>
        <p:spPr>
          <a:xfrm>
            <a:off x="457200" y="3401568"/>
            <a:ext cx="5943600" cy="502920"/>
          </a:xfrm>
          <a:prstGeom prst="rect">
            <a:avLst/>
          </a:prstGeom>
          <a:noFill/>
        </p:spPr>
        <p:txBody>
          <a:bodyPr wrap="square">
            <a:spAutoFit/>
          </a:bodyPr>
          <a:lstStyle/>
          <a:p>
            <a:pPr algn="l"/>
            <a:r>
              <a:rPr sz="1300" b="0" i="0">
                <a:solidFill>
                  <a:srgbClr val="FFFFFF"/>
                </a:solidFill>
              </a:rPr>
              <a:t>4. Tap any submission to view details,</a:t>
            </a:r>
          </a:p>
        </p:txBody>
      </p:sp>
      <p:sp>
        <p:nvSpPr>
          <p:cNvPr id="14" name="TextBox 13"/>
          <p:cNvSpPr txBox="1"/>
          <p:nvPr/>
        </p:nvSpPr>
        <p:spPr>
          <a:xfrm>
            <a:off x="457200" y="3739896"/>
            <a:ext cx="5943600" cy="502920"/>
          </a:xfrm>
          <a:prstGeom prst="rect">
            <a:avLst/>
          </a:prstGeom>
          <a:noFill/>
        </p:spPr>
        <p:txBody>
          <a:bodyPr wrap="square">
            <a:spAutoFit/>
          </a:bodyPr>
          <a:lstStyle/>
          <a:p>
            <a:pPr algn="l"/>
            <a:r>
              <a:rPr sz="1300" b="0" i="0">
                <a:solidFill>
                  <a:srgbClr val="FFFFFF"/>
                </a:solidFill>
              </a:rPr>
              <a:t>   completed items, and the inventory photo</a:t>
            </a:r>
          </a:p>
        </p:txBody>
      </p:sp>
      <p:sp>
        <p:nvSpPr>
          <p:cNvPr id="15" name="TextBox 14"/>
          <p:cNvSpPr txBox="1"/>
          <p:nvPr/>
        </p:nvSpPr>
        <p:spPr>
          <a:xfrm>
            <a:off x="457200" y="4078224"/>
            <a:ext cx="5943600" cy="502920"/>
          </a:xfrm>
          <a:prstGeom prst="rect">
            <a:avLst/>
          </a:prstGeom>
          <a:noFill/>
        </p:spPr>
        <p:txBody>
          <a:bodyPr wrap="square">
            <a:spAutoFit/>
          </a:bodyPr>
          <a:lstStyle/>
          <a:p>
            <a:pPr algn="l"/>
            <a:r>
              <a:rPr sz="1300" b="0" i="0">
                <a:solidFill>
                  <a:srgbClr val="FFFFFF"/>
                </a:solidFill>
              </a:rPr>
              <a:t/>
            </a:r>
          </a:p>
        </p:txBody>
      </p:sp>
      <p:sp>
        <p:nvSpPr>
          <p:cNvPr id="16" name="TextBox 15"/>
          <p:cNvSpPr txBox="1"/>
          <p:nvPr/>
        </p:nvSpPr>
        <p:spPr>
          <a:xfrm>
            <a:off x="457200" y="4416552"/>
            <a:ext cx="5943600" cy="502920"/>
          </a:xfrm>
          <a:prstGeom prst="rect">
            <a:avLst/>
          </a:prstGeom>
          <a:noFill/>
        </p:spPr>
        <p:txBody>
          <a:bodyPr wrap="square">
            <a:spAutoFit/>
          </a:bodyPr>
          <a:lstStyle/>
          <a:p>
            <a:pPr algn="l"/>
            <a:r>
              <a:rPr sz="1300" b="0" i="0">
                <a:solidFill>
                  <a:srgbClr val="FFFFFF"/>
                </a:solidFill>
              </a:rPr>
              <a:t>You also receive a push notification each time</a:t>
            </a:r>
          </a:p>
        </p:txBody>
      </p:sp>
      <p:sp>
        <p:nvSpPr>
          <p:cNvPr id="17" name="TextBox 16"/>
          <p:cNvSpPr txBox="1"/>
          <p:nvPr/>
        </p:nvSpPr>
        <p:spPr>
          <a:xfrm>
            <a:off x="457200" y="4754880"/>
            <a:ext cx="5943600" cy="502920"/>
          </a:xfrm>
          <a:prstGeom prst="rect">
            <a:avLst/>
          </a:prstGeom>
          <a:noFill/>
        </p:spPr>
        <p:txBody>
          <a:bodyPr wrap="square">
            <a:spAutoFit/>
          </a:bodyPr>
          <a:lstStyle/>
          <a:p>
            <a:pPr algn="l"/>
            <a:r>
              <a:rPr sz="1300" b="0" i="0">
                <a:solidFill>
                  <a:srgbClr val="FFFFFF"/>
                </a:solidFill>
              </a:rPr>
              <a:t>an employee submits a checklist.</a:t>
            </a:r>
          </a:p>
        </p:txBody>
      </p:sp>
      <p:pic>
        <p:nvPicPr>
          <p:cNvPr id="18" name="Picture 17" descr="screen_checklist.png"/>
          <p:cNvPicPr>
            <a:picLocks noChangeAspect="1"/>
          </p:cNvPicPr>
          <p:nvPr/>
        </p:nvPicPr>
        <p:blipFill>
          <a:blip r:embed="rId2"/>
          <a:stretch>
            <a:fillRect/>
          </a:stretch>
        </p:blipFill>
        <p:spPr>
          <a:xfrm>
            <a:off x="7955279" y="1234440"/>
            <a:ext cx="2118885" cy="4389120"/>
          </a:xfrm>
          <a:prstGeom prst="rect">
            <a:avLst/>
          </a:prstGeom>
        </p:spPr>
      </p:pic>
      <p:pic>
        <p:nvPicPr>
          <p:cNvPr id="19" name="Picture 18" descr="Icon-1024.png"/>
          <p:cNvPicPr>
            <a:picLocks noChangeAspect="1"/>
          </p:cNvPicPr>
          <p:nvPr/>
        </p:nvPicPr>
        <p:blipFill>
          <a:blip r:embed="rId3"/>
          <a:stretch>
            <a:fillRect/>
          </a:stretch>
        </p:blipFill>
        <p:spPr>
          <a:xfrm>
            <a:off x="10520172" y="5280660"/>
            <a:ext cx="1440180" cy="1440180"/>
          </a:xfrm>
          <a:prstGeom prst="rect">
            <a:avLst/>
          </a:prstGeom>
        </p:spPr>
      </p:pic>
      <p:sp>
        <p:nvSpPr>
          <p:cNvPr id="20" name="Rounded Rectangle 19"/>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Approving Payroll</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Payroll in the nav bar.</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Review your team's hours for the pay period.</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1. Verify each employee's total hours are accurate</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2. Cross-reference with your timecard approvals</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3. Tap Submit to send your team's hours to the Sales Director for final approval</a:t>
            </a:r>
          </a:p>
        </p:txBody>
      </p:sp>
      <p:sp>
        <p:nvSpPr>
          <p:cNvPr id="10" name="TextBox 9"/>
          <p:cNvSpPr txBox="1"/>
          <p:nvPr/>
        </p:nvSpPr>
        <p:spPr>
          <a:xfrm>
            <a:off x="457200" y="3429000"/>
            <a:ext cx="5943600" cy="502920"/>
          </a:xfrm>
          <a:prstGeom prst="rect">
            <a:avLst/>
          </a:prstGeom>
          <a:noFill/>
        </p:spPr>
        <p:txBody>
          <a:bodyPr wrap="square">
            <a:spAutoFit/>
          </a:bodyPr>
          <a:lstStyle/>
          <a:p>
            <a:pPr algn="l"/>
            <a:r>
              <a:rPr sz="1300" b="0" i="0">
                <a:solidFill>
                  <a:srgbClr val="FFFFFF"/>
                </a:solidFill>
              </a:rPr>
              <a:t/>
            </a:r>
          </a:p>
        </p:txBody>
      </p:sp>
      <p:sp>
        <p:nvSpPr>
          <p:cNvPr id="11" name="TextBox 10"/>
          <p:cNvSpPr txBox="1"/>
          <p:nvPr/>
        </p:nvSpPr>
        <p:spPr>
          <a:xfrm>
            <a:off x="457200" y="3749040"/>
            <a:ext cx="5943600" cy="502920"/>
          </a:xfrm>
          <a:prstGeom prst="rect">
            <a:avLst/>
          </a:prstGeom>
          <a:noFill/>
        </p:spPr>
        <p:txBody>
          <a:bodyPr wrap="square">
            <a:spAutoFit/>
          </a:bodyPr>
          <a:lstStyle/>
          <a:p>
            <a:pPr algn="l"/>
            <a:r>
              <a:rPr sz="1300" b="0" i="0">
                <a:solidFill>
                  <a:srgbClr val="FFFFFF"/>
                </a:solidFill>
              </a:rPr>
              <a:t>After you submit, the Sales Director reviews and approves your team's payroll before running the ADP export.</a:t>
            </a:r>
          </a:p>
        </p:txBody>
      </p:sp>
      <p:sp>
        <p:nvSpPr>
          <p:cNvPr id="12" name="TextBox 11"/>
          <p:cNvSpPr txBox="1"/>
          <p:nvPr/>
        </p:nvSpPr>
        <p:spPr>
          <a:xfrm>
            <a:off x="457200" y="4069080"/>
            <a:ext cx="5943600" cy="502920"/>
          </a:xfrm>
          <a:prstGeom prst="rect">
            <a:avLst/>
          </a:prstGeom>
          <a:noFill/>
        </p:spPr>
        <p:txBody>
          <a:bodyPr wrap="square">
            <a:spAutoFit/>
          </a:bodyPr>
          <a:lstStyle/>
        </p:txBody>
      </p:sp>
      <p:pic>
        <p:nvPicPr>
          <p:cNvPr id="13" name="Picture 12"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365760"/>
            <a:ext cx="10972800" cy="548640"/>
          </a:xfrm>
          <a:prstGeom prst="rect">
            <a:avLst/>
          </a:prstGeom>
          <a:noFill/>
        </p:spPr>
        <p:txBody>
          <a:bodyPr wrap="square">
            <a:spAutoFit/>
          </a:bodyPr>
          <a:lstStyle/>
          <a:p>
            <a:pPr algn="l"/>
            <a:r>
              <a:rPr sz="2800" b="1" i="0">
                <a:solidFill>
                  <a:srgbClr val="6B21A8"/>
                </a:solidFill>
              </a:rPr>
              <a:t>Support &amp; App Issues</a:t>
            </a:r>
          </a:p>
        </p:txBody>
      </p:sp>
      <p:sp>
        <p:nvSpPr>
          <p:cNvPr id="3" name="Rounded Rectangle 2"/>
          <p:cNvSpPr/>
          <p:nvPr/>
        </p:nvSpPr>
        <p:spPr>
          <a:xfrm>
            <a:off x="45720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34440"/>
            <a:ext cx="3200400" cy="960120"/>
          </a:xfrm>
          <a:prstGeom prst="rect">
            <a:avLst/>
          </a:prstGeom>
          <a:noFill/>
        </p:spPr>
        <p:txBody>
          <a:bodyPr wrap="square">
            <a:spAutoFit/>
          </a:bodyPr>
          <a:lstStyle/>
          <a:p>
            <a:pPr algn="l"/>
            <a:r>
              <a:rPr sz="1200" b="0" i="0">
                <a:solidFill>
                  <a:srgbClr val="FFFFFF"/>
                </a:solidFill>
              </a:rPr>
              <a:t>📸  Step 1: Take a screenshot of the error message or issue</a:t>
            </a:r>
          </a:p>
        </p:txBody>
      </p:sp>
      <p:sp>
        <p:nvSpPr>
          <p:cNvPr id="5" name="Rounded Rectangle 4"/>
          <p:cNvSpPr/>
          <p:nvPr/>
        </p:nvSpPr>
        <p:spPr>
          <a:xfrm>
            <a:off x="420624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43400" y="1234440"/>
            <a:ext cx="3200400" cy="960120"/>
          </a:xfrm>
          <a:prstGeom prst="rect">
            <a:avLst/>
          </a:prstGeom>
          <a:noFill/>
        </p:spPr>
        <p:txBody>
          <a:bodyPr wrap="square">
            <a:spAutoFit/>
          </a:bodyPr>
          <a:lstStyle/>
          <a:p>
            <a:pPr algn="l"/>
            <a:r>
              <a:rPr sz="1200" b="0" i="0">
                <a:solidFill>
                  <a:srgbClr val="FFFFFF"/>
                </a:solidFill>
              </a:rPr>
              <a:t>✉  Step 2: Email your Owner with a description and the screenshot attached</a:t>
            </a:r>
          </a:p>
        </p:txBody>
      </p:sp>
      <p:sp>
        <p:nvSpPr>
          <p:cNvPr id="7" name="Rounded Rectangle 6"/>
          <p:cNvSpPr/>
          <p:nvPr/>
        </p:nvSpPr>
        <p:spPr>
          <a:xfrm>
            <a:off x="7955279"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234440"/>
            <a:ext cx="3200400" cy="960120"/>
          </a:xfrm>
          <a:prstGeom prst="rect">
            <a:avLst/>
          </a:prstGeom>
          <a:noFill/>
        </p:spPr>
        <p:txBody>
          <a:bodyPr wrap="square">
            <a:spAutoFit/>
          </a:bodyPr>
          <a:lstStyle/>
          <a:p>
            <a:pPr algn="l"/>
            <a:r>
              <a:rPr sz="1200" b="0" i="0">
                <a:solidFill>
                  <a:srgbClr val="FFFFFF"/>
                </a:solidFill>
              </a:rPr>
              <a:t>📋  Step 3: Owner will forward to the developer for resolution</a:t>
            </a:r>
          </a:p>
        </p:txBody>
      </p:sp>
      <p:sp>
        <p:nvSpPr>
          <p:cNvPr id="9" name="Rounded Rectangle 8"/>
          <p:cNvSpPr/>
          <p:nvPr/>
        </p:nvSpPr>
        <p:spPr>
          <a:xfrm>
            <a:off x="457200" y="2697480"/>
            <a:ext cx="11274552" cy="1188720"/>
          </a:xfrm>
          <a:prstGeom prst="roundRect">
            <a:avLst>
              <a:gd name="adj" fmla="val 6000"/>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88920"/>
            <a:ext cx="10881360" cy="960120"/>
          </a:xfrm>
          <a:prstGeom prst="rect">
            <a:avLst/>
          </a:prstGeom>
          <a:noFill/>
        </p:spPr>
        <p:txBody>
          <a:bodyPr wrap="square">
            <a:spAutoFit/>
          </a:bodyPr>
          <a:lstStyle/>
          <a:p>
            <a:pPr algn="l"/>
            <a:r>
              <a:rPr sz="1400" b="1" i="0">
                <a:solidFill>
                  <a:srgbClr val="FFFFFF"/>
                </a:solidFill>
              </a:rPr>
              <a:t>⚠ Never share your login credentials. Do not clock in for another employee. Time fraud = immediate termination.</a:t>
            </a:r>
          </a:p>
        </p:txBody>
      </p:sp>
      <p:sp>
        <p:nvSpPr>
          <p:cNvPr id="11" name="TextBox 10"/>
          <p:cNvSpPr txBox="1"/>
          <p:nvPr/>
        </p:nvSpPr>
        <p:spPr>
          <a:xfrm>
            <a:off x="457200" y="4069080"/>
            <a:ext cx="10972800" cy="320040"/>
          </a:xfrm>
          <a:prstGeom prst="rect">
            <a:avLst/>
          </a:prstGeom>
          <a:noFill/>
        </p:spPr>
        <p:txBody>
          <a:bodyPr wrap="square">
            <a:spAutoFit/>
          </a:bodyPr>
          <a:lstStyle/>
          <a:p>
            <a:pPr algn="l"/>
            <a:r>
              <a:rPr sz="1200" b="0" i="0">
                <a:solidFill>
                  <a:srgbClr val="9CA3AF"/>
                </a:solidFill>
              </a:rPr>
              <a:t>fieldmanagerpro.app</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Ops Manager</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Your guide to using Field Manager Pro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10972800" cy="548640"/>
          </a:xfrm>
          <a:prstGeom prst="rect">
            <a:avLst/>
          </a:prstGeom>
          <a:noFill/>
        </p:spPr>
        <p:txBody>
          <a:bodyPr wrap="square">
            <a:spAutoFit/>
          </a:bodyPr>
          <a:lstStyle/>
          <a:p>
            <a:pPr algn="l"/>
            <a:r>
              <a:rPr sz="2800" b="1" i="0">
                <a:solidFill>
                  <a:srgbClr val="6B21A8"/>
                </a:solidFill>
              </a:rPr>
              <a:t>Ops Manager Responsibilities</a:t>
            </a:r>
          </a:p>
        </p:txBody>
      </p:sp>
      <p:sp>
        <p:nvSpPr>
          <p:cNvPr id="3" name="Oval 2"/>
          <p:cNvSpPr/>
          <p:nvPr/>
        </p:nvSpPr>
        <p:spPr>
          <a:xfrm>
            <a:off x="457200" y="128016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1188720"/>
            <a:ext cx="10972800" cy="457200"/>
          </a:xfrm>
          <a:prstGeom prst="rect">
            <a:avLst/>
          </a:prstGeom>
          <a:noFill/>
        </p:spPr>
        <p:txBody>
          <a:bodyPr wrap="square">
            <a:spAutoFit/>
          </a:bodyPr>
          <a:lstStyle/>
          <a:p>
            <a:pPr algn="l"/>
            <a:r>
              <a:rPr sz="1300" b="0" i="0">
                <a:solidFill>
                  <a:srgbClr val="FFFFFF"/>
                </a:solidFill>
              </a:rPr>
              <a:t>Tasks are assigned to you by the Owner</a:t>
            </a:r>
          </a:p>
        </p:txBody>
      </p:sp>
      <p:sp>
        <p:nvSpPr>
          <p:cNvPr id="5" name="Oval 4"/>
          <p:cNvSpPr/>
          <p:nvPr/>
        </p:nvSpPr>
        <p:spPr>
          <a:xfrm>
            <a:off x="457200" y="1847088"/>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55648"/>
            <a:ext cx="10972800" cy="457200"/>
          </a:xfrm>
          <a:prstGeom prst="rect">
            <a:avLst/>
          </a:prstGeom>
          <a:noFill/>
        </p:spPr>
        <p:txBody>
          <a:bodyPr wrap="square">
            <a:spAutoFit/>
          </a:bodyPr>
          <a:lstStyle/>
          <a:p>
            <a:pPr algn="l"/>
            <a:r>
              <a:rPr sz="1300" b="0" i="0">
                <a:solidFill>
                  <a:srgbClr val="FFFFFF"/>
                </a:solidFill>
              </a:rPr>
              <a:t>Your access level is determined by what the Owner delegates to you</a:t>
            </a:r>
          </a:p>
        </p:txBody>
      </p:sp>
      <p:sp>
        <p:nvSpPr>
          <p:cNvPr id="7" name="Oval 6"/>
          <p:cNvSpPr/>
          <p:nvPr/>
        </p:nvSpPr>
        <p:spPr>
          <a:xfrm>
            <a:off x="457200" y="2414016"/>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322576"/>
            <a:ext cx="10972800" cy="457200"/>
          </a:xfrm>
          <a:prstGeom prst="rect">
            <a:avLst/>
          </a:prstGeom>
          <a:noFill/>
        </p:spPr>
        <p:txBody>
          <a:bodyPr wrap="square">
            <a:spAutoFit/>
          </a:bodyPr>
          <a:lstStyle/>
          <a:p>
            <a:pPr algn="l"/>
            <a:r>
              <a:rPr sz="1300" b="0" i="0">
                <a:solidFill>
                  <a:srgbClr val="FFFFFF"/>
                </a:solidFill>
              </a:rPr>
              <a:t>Responsibilities vary — follow Owner's directives</a:t>
            </a:r>
          </a:p>
        </p:txBody>
      </p:sp>
      <p:sp>
        <p:nvSpPr>
          <p:cNvPr id="9" name="Oval 8"/>
          <p:cNvSpPr/>
          <p:nvPr/>
        </p:nvSpPr>
        <p:spPr>
          <a:xfrm>
            <a:off x="457200" y="2980944"/>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889504"/>
            <a:ext cx="10972800" cy="457200"/>
          </a:xfrm>
          <a:prstGeom prst="rect">
            <a:avLst/>
          </a:prstGeom>
          <a:noFill/>
        </p:spPr>
        <p:txBody>
          <a:bodyPr wrap="square">
            <a:spAutoFit/>
          </a:bodyPr>
          <a:lstStyle/>
          <a:p>
            <a:pPr algn="l"/>
            <a:r>
              <a:rPr sz="1300" b="0" i="0">
                <a:solidFill>
                  <a:srgbClr val="FFFFFF"/>
                </a:solidFill>
              </a:rPr>
              <a:t>May manage scheduling, timecards, flags, and tasks depending on your assignment</a:t>
            </a:r>
          </a:p>
        </p:txBody>
      </p:sp>
      <p:sp>
        <p:nvSpPr>
          <p:cNvPr id="11" name="Oval 10"/>
          <p:cNvSpPr/>
          <p:nvPr/>
        </p:nvSpPr>
        <p:spPr>
          <a:xfrm>
            <a:off x="457200" y="3547872"/>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456432"/>
            <a:ext cx="10972800" cy="457200"/>
          </a:xfrm>
          <a:prstGeom prst="rect">
            <a:avLst/>
          </a:prstGeom>
          <a:noFill/>
        </p:spPr>
        <p:txBody>
          <a:bodyPr wrap="square">
            <a:spAutoFit/>
          </a:bodyPr>
          <a:lstStyle/>
          <a:p>
            <a:pPr algn="l"/>
            <a:r>
              <a:rPr sz="1300" b="0" i="0">
                <a:solidFill>
                  <a:srgbClr val="FFFFFF"/>
                </a:solidFill>
              </a:rPr>
              <a:t>Apply DM-level standards to any area delegated to you</a:t>
            </a:r>
          </a:p>
        </p:txBody>
      </p:sp>
      <p:sp>
        <p:nvSpPr>
          <p:cNvPr id="13" name="Oval 12"/>
          <p:cNvSpPr/>
          <p:nvPr/>
        </p:nvSpPr>
        <p:spPr>
          <a:xfrm>
            <a:off x="457200" y="411480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023360"/>
            <a:ext cx="10972800" cy="457200"/>
          </a:xfrm>
          <a:prstGeom prst="rect">
            <a:avLst/>
          </a:prstGeom>
          <a:noFill/>
        </p:spPr>
        <p:txBody>
          <a:bodyPr wrap="square">
            <a:spAutoFit/>
          </a:bodyPr>
          <a:lstStyle/>
          <a:p>
            <a:pPr algn="l"/>
            <a:r>
              <a:rPr sz="1300" b="0" i="0">
                <a:solidFill>
                  <a:srgbClr val="FFFFFF"/>
                </a:solidFill>
              </a:rPr>
              <a:t>Report issues and updates directly to the Owner</a:t>
            </a:r>
          </a:p>
        </p:txBody>
      </p:sp>
      <p:pic>
        <p:nvPicPr>
          <p:cNvPr id="15" name="Picture 14"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6" name="Rounded Rectangle 15"/>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Your App Access</a:t>
            </a:r>
          </a:p>
        </p:txBody>
      </p:sp>
      <p:sp>
        <p:nvSpPr>
          <p:cNvPr id="3" name="TextBox 2"/>
          <p:cNvSpPr txBox="1"/>
          <p:nvPr/>
        </p:nvSpPr>
        <p:spPr>
          <a:xfrm>
            <a:off x="457200" y="1143000"/>
            <a:ext cx="5943600" cy="365760"/>
          </a:xfrm>
          <a:prstGeom prst="rect">
            <a:avLst/>
          </a:prstGeom>
          <a:noFill/>
        </p:spPr>
        <p:txBody>
          <a:bodyPr wrap="square">
            <a:spAutoFit/>
          </a:bodyPr>
          <a:lstStyle/>
          <a:p>
            <a:pPr algn="l"/>
            <a:r>
              <a:rPr sz="1300" b="0" i="0">
                <a:solidFill>
                  <a:srgbClr val="9CA3AF"/>
                </a:solidFill>
              </a:rPr>
              <a:t>As an Ops Manager, you have access to:</a:t>
            </a:r>
          </a:p>
        </p:txBody>
      </p:sp>
      <p:sp>
        <p:nvSpPr>
          <p:cNvPr id="4" name="TextBox 3"/>
          <p:cNvSpPr txBox="1"/>
          <p:nvPr/>
        </p:nvSpPr>
        <p:spPr>
          <a:xfrm>
            <a:off x="457200" y="1600200"/>
            <a:ext cx="274320" cy="274320"/>
          </a:xfrm>
          <a:prstGeom prst="rect">
            <a:avLst/>
          </a:prstGeom>
          <a:noFill/>
        </p:spPr>
        <p:txBody>
          <a:bodyPr wrap="square">
            <a:spAutoFit/>
          </a:bodyPr>
          <a:lstStyle/>
          <a:p>
            <a:pPr algn="l"/>
            <a:r>
              <a:rPr sz="1400" b="1" i="0">
                <a:solidFill>
                  <a:srgbClr val="6B21A8"/>
                </a:solidFill>
              </a:rPr>
              <a:t>✓</a:t>
            </a:r>
          </a:p>
        </p:txBody>
      </p:sp>
      <p:sp>
        <p:nvSpPr>
          <p:cNvPr id="5" name="TextBox 4"/>
          <p:cNvSpPr txBox="1"/>
          <p:nvPr/>
        </p:nvSpPr>
        <p:spPr>
          <a:xfrm>
            <a:off x="777240" y="1600200"/>
            <a:ext cx="5303520" cy="274320"/>
          </a:xfrm>
          <a:prstGeom prst="rect">
            <a:avLst/>
          </a:prstGeom>
          <a:noFill/>
        </p:spPr>
        <p:txBody>
          <a:bodyPr wrap="square">
            <a:spAutoFit/>
          </a:bodyPr>
          <a:lstStyle/>
          <a:p>
            <a:pPr algn="l"/>
            <a:r>
              <a:rPr sz="1300" b="0" i="0">
                <a:solidFill>
                  <a:srgbClr val="FFFFFF"/>
                </a:solidFill>
              </a:rPr>
              <a:t>Staff Schedule (view + manage)</a:t>
            </a:r>
          </a:p>
        </p:txBody>
      </p:sp>
      <p:sp>
        <p:nvSpPr>
          <p:cNvPr id="6" name="TextBox 5"/>
          <p:cNvSpPr txBox="1"/>
          <p:nvPr/>
        </p:nvSpPr>
        <p:spPr>
          <a:xfrm>
            <a:off x="457200" y="1984248"/>
            <a:ext cx="274320" cy="274320"/>
          </a:xfrm>
          <a:prstGeom prst="rect">
            <a:avLst/>
          </a:prstGeom>
          <a:noFill/>
        </p:spPr>
        <p:txBody>
          <a:bodyPr wrap="square">
            <a:spAutoFit/>
          </a:bodyPr>
          <a:lstStyle/>
          <a:p>
            <a:pPr algn="l"/>
            <a:r>
              <a:rPr sz="1400" b="1" i="0">
                <a:solidFill>
                  <a:srgbClr val="6B21A8"/>
                </a:solidFill>
              </a:rPr>
              <a:t>✓</a:t>
            </a:r>
          </a:p>
        </p:txBody>
      </p:sp>
      <p:sp>
        <p:nvSpPr>
          <p:cNvPr id="7" name="TextBox 6"/>
          <p:cNvSpPr txBox="1"/>
          <p:nvPr/>
        </p:nvSpPr>
        <p:spPr>
          <a:xfrm>
            <a:off x="777240" y="1984248"/>
            <a:ext cx="5303520" cy="274320"/>
          </a:xfrm>
          <a:prstGeom prst="rect">
            <a:avLst/>
          </a:prstGeom>
          <a:noFill/>
        </p:spPr>
        <p:txBody>
          <a:bodyPr wrap="square">
            <a:spAutoFit/>
          </a:bodyPr>
          <a:lstStyle/>
          <a:p>
            <a:pPr algn="l"/>
            <a:r>
              <a:rPr sz="1300" b="0" i="0">
                <a:solidFill>
                  <a:srgbClr val="FFFFFF"/>
                </a:solidFill>
              </a:rPr>
              <a:t>Timecards (view + edit)</a:t>
            </a:r>
          </a:p>
        </p:txBody>
      </p:sp>
      <p:sp>
        <p:nvSpPr>
          <p:cNvPr id="8" name="TextBox 7"/>
          <p:cNvSpPr txBox="1"/>
          <p:nvPr/>
        </p:nvSpPr>
        <p:spPr>
          <a:xfrm>
            <a:off x="457200" y="2368296"/>
            <a:ext cx="274320" cy="274320"/>
          </a:xfrm>
          <a:prstGeom prst="rect">
            <a:avLst/>
          </a:prstGeom>
          <a:noFill/>
        </p:spPr>
        <p:txBody>
          <a:bodyPr wrap="square">
            <a:spAutoFit/>
          </a:bodyPr>
          <a:lstStyle/>
          <a:p>
            <a:pPr algn="l"/>
            <a:r>
              <a:rPr sz="1400" b="1" i="0">
                <a:solidFill>
                  <a:srgbClr val="6B21A8"/>
                </a:solidFill>
              </a:rPr>
              <a:t>✓</a:t>
            </a:r>
          </a:p>
        </p:txBody>
      </p:sp>
      <p:sp>
        <p:nvSpPr>
          <p:cNvPr id="9" name="TextBox 8"/>
          <p:cNvSpPr txBox="1"/>
          <p:nvPr/>
        </p:nvSpPr>
        <p:spPr>
          <a:xfrm>
            <a:off x="777240" y="2368296"/>
            <a:ext cx="5303520" cy="274320"/>
          </a:xfrm>
          <a:prstGeom prst="rect">
            <a:avLst/>
          </a:prstGeom>
          <a:noFill/>
        </p:spPr>
        <p:txBody>
          <a:bodyPr wrap="square">
            <a:spAutoFit/>
          </a:bodyPr>
          <a:lstStyle/>
          <a:p>
            <a:pPr algn="l"/>
            <a:r>
              <a:rPr sz="1300" b="0" i="0">
                <a:solidFill>
                  <a:srgbClr val="FFFFFF"/>
                </a:solidFill>
              </a:rPr>
              <a:t>Tasks (receive + complete)</a:t>
            </a:r>
          </a:p>
        </p:txBody>
      </p:sp>
      <p:sp>
        <p:nvSpPr>
          <p:cNvPr id="10" name="TextBox 9"/>
          <p:cNvSpPr txBox="1"/>
          <p:nvPr/>
        </p:nvSpPr>
        <p:spPr>
          <a:xfrm>
            <a:off x="457200" y="2752344"/>
            <a:ext cx="274320" cy="274320"/>
          </a:xfrm>
          <a:prstGeom prst="rect">
            <a:avLst/>
          </a:prstGeom>
          <a:noFill/>
        </p:spPr>
        <p:txBody>
          <a:bodyPr wrap="square">
            <a:spAutoFit/>
          </a:bodyPr>
          <a:lstStyle/>
          <a:p>
            <a:pPr algn="l"/>
            <a:r>
              <a:rPr sz="1400" b="1" i="0">
                <a:solidFill>
                  <a:srgbClr val="6B21A8"/>
                </a:solidFill>
              </a:rPr>
              <a:t>✓</a:t>
            </a:r>
          </a:p>
        </p:txBody>
      </p:sp>
      <p:sp>
        <p:nvSpPr>
          <p:cNvPr id="11" name="TextBox 10"/>
          <p:cNvSpPr txBox="1"/>
          <p:nvPr/>
        </p:nvSpPr>
        <p:spPr>
          <a:xfrm>
            <a:off x="777240" y="2752344"/>
            <a:ext cx="5303520" cy="274320"/>
          </a:xfrm>
          <a:prstGeom prst="rect">
            <a:avLst/>
          </a:prstGeom>
          <a:noFill/>
        </p:spPr>
        <p:txBody>
          <a:bodyPr wrap="square">
            <a:spAutoFit/>
          </a:bodyPr>
          <a:lstStyle/>
          <a:p>
            <a:pPr algn="l"/>
            <a:r>
              <a:rPr sz="1300" b="0" i="0">
                <a:solidFill>
                  <a:srgbClr val="FFFFFF"/>
                </a:solidFill>
              </a:rPr>
              <a:t>Flags (view + resolve)</a:t>
            </a:r>
          </a:p>
        </p:txBody>
      </p:sp>
      <p:sp>
        <p:nvSpPr>
          <p:cNvPr id="12" name="TextBox 11"/>
          <p:cNvSpPr txBox="1"/>
          <p:nvPr/>
        </p:nvSpPr>
        <p:spPr>
          <a:xfrm>
            <a:off x="457200" y="3136391"/>
            <a:ext cx="274320" cy="274320"/>
          </a:xfrm>
          <a:prstGeom prst="rect">
            <a:avLst/>
          </a:prstGeom>
          <a:noFill/>
        </p:spPr>
        <p:txBody>
          <a:bodyPr wrap="square">
            <a:spAutoFit/>
          </a:bodyPr>
          <a:lstStyle/>
          <a:p>
            <a:pPr algn="l"/>
            <a:r>
              <a:rPr sz="1400" b="1" i="0">
                <a:solidFill>
                  <a:srgbClr val="6B21A8"/>
                </a:solidFill>
              </a:rPr>
              <a:t>✓</a:t>
            </a:r>
          </a:p>
        </p:txBody>
      </p:sp>
      <p:sp>
        <p:nvSpPr>
          <p:cNvPr id="13" name="TextBox 12"/>
          <p:cNvSpPr txBox="1"/>
          <p:nvPr/>
        </p:nvSpPr>
        <p:spPr>
          <a:xfrm>
            <a:off x="777240" y="3136391"/>
            <a:ext cx="5303520" cy="274320"/>
          </a:xfrm>
          <a:prstGeom prst="rect">
            <a:avLst/>
          </a:prstGeom>
          <a:noFill/>
        </p:spPr>
        <p:txBody>
          <a:bodyPr wrap="square">
            <a:spAutoFit/>
          </a:bodyPr>
          <a:lstStyle/>
          <a:p>
            <a:pPr algn="l"/>
            <a:r>
              <a:rPr sz="1300" b="0" i="0">
                <a:solidFill>
                  <a:srgbClr val="FFFFFF"/>
                </a:solidFill>
              </a:rPr>
              <a:t>Team (view + manage — full create/edit/delete + approve new employees added by DMs)</a:t>
            </a:r>
          </a:p>
        </p:txBody>
      </p:sp>
      <p:pic>
        <p:nvPicPr>
          <p:cNvPr id="14" name="Picture 13" descr="screen_menu.png"/>
          <p:cNvPicPr>
            <a:picLocks noChangeAspect="1"/>
          </p:cNvPicPr>
          <p:nvPr/>
        </p:nvPicPr>
        <p:blipFill>
          <a:blip r:embed="rId2"/>
          <a:stretch>
            <a:fillRect/>
          </a:stretch>
        </p:blipFill>
        <p:spPr>
          <a:xfrm>
            <a:off x="7955279" y="1234440"/>
            <a:ext cx="2118885" cy="4389120"/>
          </a:xfrm>
          <a:prstGeom prst="rect">
            <a:avLst/>
          </a:prstGeom>
        </p:spPr>
      </p:pic>
      <p:pic>
        <p:nvPicPr>
          <p:cNvPr id="15" name="Picture 14"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6" name="Rounded Rectangle 15"/>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365760"/>
            <a:ext cx="10972800" cy="548640"/>
          </a:xfrm>
          <a:prstGeom prst="rect">
            <a:avLst/>
          </a:prstGeom>
          <a:noFill/>
        </p:spPr>
        <p:txBody>
          <a:bodyPr wrap="square">
            <a:spAutoFit/>
          </a:bodyPr>
          <a:lstStyle/>
          <a:p>
            <a:pPr algn="l"/>
            <a:r>
              <a:rPr sz="2800" b="1" i="0">
                <a:solidFill>
                  <a:srgbClr val="6B21A8"/>
                </a:solidFill>
              </a:rPr>
              <a:t>Support &amp; App Issues</a:t>
            </a:r>
          </a:p>
        </p:txBody>
      </p:sp>
      <p:sp>
        <p:nvSpPr>
          <p:cNvPr id="3" name="Rounded Rectangle 2"/>
          <p:cNvSpPr/>
          <p:nvPr/>
        </p:nvSpPr>
        <p:spPr>
          <a:xfrm>
            <a:off x="45720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34440"/>
            <a:ext cx="3200400" cy="960120"/>
          </a:xfrm>
          <a:prstGeom prst="rect">
            <a:avLst/>
          </a:prstGeom>
          <a:noFill/>
        </p:spPr>
        <p:txBody>
          <a:bodyPr wrap="square">
            <a:spAutoFit/>
          </a:bodyPr>
          <a:lstStyle/>
          <a:p>
            <a:pPr algn="l"/>
            <a:r>
              <a:rPr sz="1200" b="0" i="0">
                <a:solidFill>
                  <a:srgbClr val="FFFFFF"/>
                </a:solidFill>
              </a:rPr>
              <a:t>📸  Step 1: Take a screenshot of the error message or issue</a:t>
            </a:r>
          </a:p>
        </p:txBody>
      </p:sp>
      <p:sp>
        <p:nvSpPr>
          <p:cNvPr id="5" name="Rounded Rectangle 4"/>
          <p:cNvSpPr/>
          <p:nvPr/>
        </p:nvSpPr>
        <p:spPr>
          <a:xfrm>
            <a:off x="420624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43400" y="1234440"/>
            <a:ext cx="3200400" cy="960120"/>
          </a:xfrm>
          <a:prstGeom prst="rect">
            <a:avLst/>
          </a:prstGeom>
          <a:noFill/>
        </p:spPr>
        <p:txBody>
          <a:bodyPr wrap="square">
            <a:spAutoFit/>
          </a:bodyPr>
          <a:lstStyle/>
          <a:p>
            <a:pPr algn="l"/>
            <a:r>
              <a:rPr sz="1200" b="0" i="0">
                <a:solidFill>
                  <a:srgbClr val="FFFFFF"/>
                </a:solidFill>
              </a:rPr>
              <a:t>✉  Step 2: Email your Owner with a description and the screenshot attached</a:t>
            </a:r>
          </a:p>
        </p:txBody>
      </p:sp>
      <p:sp>
        <p:nvSpPr>
          <p:cNvPr id="7" name="Rounded Rectangle 6"/>
          <p:cNvSpPr/>
          <p:nvPr/>
        </p:nvSpPr>
        <p:spPr>
          <a:xfrm>
            <a:off x="7955279"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234440"/>
            <a:ext cx="3200400" cy="960120"/>
          </a:xfrm>
          <a:prstGeom prst="rect">
            <a:avLst/>
          </a:prstGeom>
          <a:noFill/>
        </p:spPr>
        <p:txBody>
          <a:bodyPr wrap="square">
            <a:spAutoFit/>
          </a:bodyPr>
          <a:lstStyle/>
          <a:p>
            <a:pPr algn="l"/>
            <a:r>
              <a:rPr sz="1200" b="0" i="0">
                <a:solidFill>
                  <a:srgbClr val="FFFFFF"/>
                </a:solidFill>
              </a:rPr>
              <a:t>📋  Step 3: Owner will forward to the developer for resolution</a:t>
            </a:r>
          </a:p>
        </p:txBody>
      </p:sp>
      <p:sp>
        <p:nvSpPr>
          <p:cNvPr id="9" name="Rounded Rectangle 8"/>
          <p:cNvSpPr/>
          <p:nvPr/>
        </p:nvSpPr>
        <p:spPr>
          <a:xfrm>
            <a:off x="457200" y="2697480"/>
            <a:ext cx="11274552" cy="1188720"/>
          </a:xfrm>
          <a:prstGeom prst="roundRect">
            <a:avLst>
              <a:gd name="adj" fmla="val 6000"/>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88920"/>
            <a:ext cx="10881360" cy="960120"/>
          </a:xfrm>
          <a:prstGeom prst="rect">
            <a:avLst/>
          </a:prstGeom>
          <a:noFill/>
        </p:spPr>
        <p:txBody>
          <a:bodyPr wrap="square">
            <a:spAutoFit/>
          </a:bodyPr>
          <a:lstStyle/>
          <a:p>
            <a:pPr algn="l"/>
            <a:r>
              <a:rPr sz="1400" b="1" i="0">
                <a:solidFill>
                  <a:srgbClr val="FFFFFF"/>
                </a:solidFill>
              </a:rPr>
              <a:t>⚠ Never share your login credentials. Do not clock in for another employee. Time fraud = immediate termination.</a:t>
            </a:r>
          </a:p>
        </p:txBody>
      </p:sp>
      <p:sp>
        <p:nvSpPr>
          <p:cNvPr id="11" name="TextBox 10"/>
          <p:cNvSpPr txBox="1"/>
          <p:nvPr/>
        </p:nvSpPr>
        <p:spPr>
          <a:xfrm>
            <a:off x="457200" y="4069080"/>
            <a:ext cx="10972800" cy="320040"/>
          </a:xfrm>
          <a:prstGeom prst="rect">
            <a:avLst/>
          </a:prstGeom>
          <a:noFill/>
        </p:spPr>
        <p:txBody>
          <a:bodyPr wrap="square">
            <a:spAutoFit/>
          </a:bodyPr>
          <a:lstStyle/>
          <a:p>
            <a:pPr algn="l"/>
            <a:r>
              <a:rPr sz="1200" b="0" i="0">
                <a:solidFill>
                  <a:srgbClr val="9CA3AF"/>
                </a:solidFill>
              </a:rPr>
              <a:t>fieldmanagerpro.app</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Sales Director</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Your guide to using Field Manager Pro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10972800" cy="548640"/>
          </a:xfrm>
          <a:prstGeom prst="rect">
            <a:avLst/>
          </a:prstGeom>
          <a:noFill/>
        </p:spPr>
        <p:txBody>
          <a:bodyPr wrap="square">
            <a:spAutoFit/>
          </a:bodyPr>
          <a:lstStyle/>
          <a:p>
            <a:pPr algn="l"/>
            <a:r>
              <a:rPr sz="2800" b="1" i="0">
                <a:solidFill>
                  <a:srgbClr val="6B21A8"/>
                </a:solidFill>
              </a:rPr>
              <a:t>Sales Director Responsibilities</a:t>
            </a:r>
          </a:p>
        </p:txBody>
      </p:sp>
      <p:sp>
        <p:nvSpPr>
          <p:cNvPr id="3" name="Oval 2"/>
          <p:cNvSpPr/>
          <p:nvPr/>
        </p:nvSpPr>
        <p:spPr>
          <a:xfrm>
            <a:off x="457200" y="128016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1188720"/>
            <a:ext cx="10972800" cy="457200"/>
          </a:xfrm>
          <a:prstGeom prst="rect">
            <a:avLst/>
          </a:prstGeom>
          <a:noFill/>
        </p:spPr>
        <p:txBody>
          <a:bodyPr wrap="square">
            <a:spAutoFit/>
          </a:bodyPr>
          <a:lstStyle/>
          <a:p>
            <a:pPr algn="l"/>
            <a:r>
              <a:rPr sz="1400" b="0" i="0">
                <a:solidFill>
                  <a:srgbClr val="FFFFFF"/>
                </a:solidFill>
              </a:rPr>
              <a:t>Assign and manage tasks for DMs</a:t>
            </a:r>
          </a:p>
        </p:txBody>
      </p:sp>
      <p:sp>
        <p:nvSpPr>
          <p:cNvPr id="5" name="Oval 4"/>
          <p:cNvSpPr/>
          <p:nvPr/>
        </p:nvSpPr>
        <p:spPr>
          <a:xfrm>
            <a:off x="457200" y="1938528"/>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847088"/>
            <a:ext cx="10972800" cy="457200"/>
          </a:xfrm>
          <a:prstGeom prst="rect">
            <a:avLst/>
          </a:prstGeom>
          <a:noFill/>
        </p:spPr>
        <p:txBody>
          <a:bodyPr wrap="square">
            <a:spAutoFit/>
          </a:bodyPr>
          <a:lstStyle/>
          <a:p>
            <a:pPr algn="l"/>
            <a:r>
              <a:rPr sz="1400" b="0" i="0">
                <a:solidFill>
                  <a:srgbClr val="FFFFFF"/>
                </a:solidFill>
              </a:rPr>
              <a:t>Monitor schedule compliance — employee schedules must be 2 weeks in advance</a:t>
            </a:r>
          </a:p>
        </p:txBody>
      </p:sp>
      <p:sp>
        <p:nvSpPr>
          <p:cNvPr id="7" name="Oval 6"/>
          <p:cNvSpPr/>
          <p:nvPr/>
        </p:nvSpPr>
        <p:spPr>
          <a:xfrm>
            <a:off x="457200" y="2596896"/>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505456"/>
            <a:ext cx="10972800" cy="457200"/>
          </a:xfrm>
          <a:prstGeom prst="rect">
            <a:avLst/>
          </a:prstGeom>
          <a:noFill/>
        </p:spPr>
        <p:txBody>
          <a:bodyPr wrap="square">
            <a:spAutoFit/>
          </a:bodyPr>
          <a:lstStyle/>
          <a:p>
            <a:pPr algn="l"/>
            <a:r>
              <a:rPr sz="1400" b="0" i="0">
                <a:solidFill>
                  <a:srgbClr val="FFFFFF"/>
                </a:solidFill>
              </a:rPr>
              <a:t>Review and validate timecards for your DMs</a:t>
            </a:r>
          </a:p>
        </p:txBody>
      </p:sp>
      <p:sp>
        <p:nvSpPr>
          <p:cNvPr id="9" name="Oval 8"/>
          <p:cNvSpPr/>
          <p:nvPr/>
        </p:nvSpPr>
        <p:spPr>
          <a:xfrm>
            <a:off x="457200" y="3255264"/>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3163824"/>
            <a:ext cx="10972800" cy="457200"/>
          </a:xfrm>
          <a:prstGeom prst="rect">
            <a:avLst/>
          </a:prstGeom>
          <a:noFill/>
        </p:spPr>
        <p:txBody>
          <a:bodyPr wrap="square">
            <a:spAutoFit/>
          </a:bodyPr>
          <a:lstStyle/>
          <a:p>
            <a:pPr algn="l"/>
            <a:r>
              <a:rPr sz="1400" b="0" i="0">
                <a:solidFill>
                  <a:srgbClr val="FFFFFF"/>
                </a:solidFill>
              </a:rPr>
              <a:t>Use the app as your primary management and inspection tool</a:t>
            </a:r>
          </a:p>
        </p:txBody>
      </p:sp>
      <p:sp>
        <p:nvSpPr>
          <p:cNvPr id="11" name="Oval 10"/>
          <p:cNvSpPr/>
          <p:nvPr/>
        </p:nvSpPr>
        <p:spPr>
          <a:xfrm>
            <a:off x="457200" y="3913631"/>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822191"/>
            <a:ext cx="10972800" cy="457200"/>
          </a:xfrm>
          <a:prstGeom prst="rect">
            <a:avLst/>
          </a:prstGeom>
          <a:noFill/>
        </p:spPr>
        <p:txBody>
          <a:bodyPr wrap="square">
            <a:spAutoFit/>
          </a:bodyPr>
          <a:lstStyle/>
          <a:p>
            <a:pPr algn="l"/>
            <a:r>
              <a:rPr sz="1400" b="0" i="0">
                <a:solidFill>
                  <a:srgbClr val="FFFFFF"/>
                </a:solidFill>
              </a:rPr>
              <a:t>Ensure DMs are checking tasks and flags daily
Receive overstaffing alerts when a store is scheduled beyond target headcount
Review and approve expense submissions from the field
Use the Map view to monitor live GPS locations and DM route history
Approve or reject new employees added by DMs before their accounts go live</a:t>
            </a:r>
          </a:p>
        </p:txBody>
      </p:sp>
      <p:pic>
        <p:nvPicPr>
          <p:cNvPr id="13" name="Picture 12"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Assigning Tasks to DMs</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1. Navigate to Tasks</a:t>
            </a:r>
          </a:p>
        </p:txBody>
      </p:sp>
      <p:sp>
        <p:nvSpPr>
          <p:cNvPr id="4" name="TextBox 3"/>
          <p:cNvSpPr txBox="1"/>
          <p:nvPr/>
        </p:nvSpPr>
        <p:spPr>
          <a:xfrm>
            <a:off x="457200" y="1527048"/>
            <a:ext cx="5943600" cy="502920"/>
          </a:xfrm>
          <a:prstGeom prst="rect">
            <a:avLst/>
          </a:prstGeom>
          <a:noFill/>
        </p:spPr>
        <p:txBody>
          <a:bodyPr wrap="square">
            <a:spAutoFit/>
          </a:bodyPr>
          <a:lstStyle/>
          <a:p>
            <a:pPr algn="l"/>
            <a:r>
              <a:rPr sz="1300" b="0" i="0">
                <a:solidFill>
                  <a:srgbClr val="FFFFFF"/>
                </a:solidFill>
              </a:rPr>
              <a:t>2. Tap "+ Assign Task"</a:t>
            </a:r>
          </a:p>
        </p:txBody>
      </p:sp>
      <p:sp>
        <p:nvSpPr>
          <p:cNvPr id="5" name="TextBox 4"/>
          <p:cNvSpPr txBox="1"/>
          <p:nvPr/>
        </p:nvSpPr>
        <p:spPr>
          <a:xfrm>
            <a:off x="457200" y="1865376"/>
            <a:ext cx="5943600" cy="502920"/>
          </a:xfrm>
          <a:prstGeom prst="rect">
            <a:avLst/>
          </a:prstGeom>
          <a:noFill/>
        </p:spPr>
        <p:txBody>
          <a:bodyPr wrap="square">
            <a:spAutoFit/>
          </a:bodyPr>
          <a:lstStyle/>
          <a:p>
            <a:pPr algn="l"/>
            <a:r>
              <a:rPr sz="1300" b="0" i="0">
                <a:solidFill>
                  <a:srgbClr val="FFFFFF"/>
                </a:solidFill>
              </a:rPr>
              <a:t>3. Enter title and description</a:t>
            </a:r>
          </a:p>
        </p:txBody>
      </p:sp>
      <p:sp>
        <p:nvSpPr>
          <p:cNvPr id="6" name="TextBox 5"/>
          <p:cNvSpPr txBox="1"/>
          <p:nvPr/>
        </p:nvSpPr>
        <p:spPr>
          <a:xfrm>
            <a:off x="457200" y="2203704"/>
            <a:ext cx="5943600" cy="502920"/>
          </a:xfrm>
          <a:prstGeom prst="rect">
            <a:avLst/>
          </a:prstGeom>
          <a:noFill/>
        </p:spPr>
        <p:txBody>
          <a:bodyPr wrap="square">
            <a:spAutoFit/>
          </a:bodyPr>
          <a:lstStyle/>
          <a:p>
            <a:pPr algn="l"/>
            <a:r>
              <a:rPr sz="1300" b="0" i="0">
                <a:solidFill>
                  <a:srgbClr val="FFFFFF"/>
                </a:solidFill>
              </a:rPr>
              <a:t>4. Select assignee (DM or Ops Manager)</a:t>
            </a:r>
          </a:p>
        </p:txBody>
      </p:sp>
      <p:sp>
        <p:nvSpPr>
          <p:cNvPr id="7" name="TextBox 6"/>
          <p:cNvSpPr txBox="1"/>
          <p:nvPr/>
        </p:nvSpPr>
        <p:spPr>
          <a:xfrm>
            <a:off x="457200" y="2542032"/>
            <a:ext cx="5943600" cy="502920"/>
          </a:xfrm>
          <a:prstGeom prst="rect">
            <a:avLst/>
          </a:prstGeom>
          <a:noFill/>
        </p:spPr>
        <p:txBody>
          <a:bodyPr wrap="square">
            <a:spAutoFit/>
          </a:bodyPr>
          <a:lstStyle/>
          <a:p>
            <a:pPr algn="l"/>
            <a:r>
              <a:rPr sz="1300" b="0" i="0">
                <a:solidFill>
                  <a:srgbClr val="FFFFFF"/>
                </a:solidFill>
              </a:rPr>
              <a:t>5. Set a due date</a:t>
            </a:r>
          </a:p>
        </p:txBody>
      </p:sp>
      <p:sp>
        <p:nvSpPr>
          <p:cNvPr id="8" name="TextBox 7"/>
          <p:cNvSpPr txBox="1"/>
          <p:nvPr/>
        </p:nvSpPr>
        <p:spPr>
          <a:xfrm>
            <a:off x="457200" y="2880360"/>
            <a:ext cx="5943600" cy="502920"/>
          </a:xfrm>
          <a:prstGeom prst="rect">
            <a:avLst/>
          </a:prstGeom>
          <a:noFill/>
        </p:spPr>
        <p:txBody>
          <a:bodyPr wrap="square">
            <a:spAutoFit/>
          </a:bodyPr>
          <a:lstStyle/>
          <a:p>
            <a:pPr algn="l"/>
            <a:r>
              <a:rPr sz="1300" b="0" i="0">
                <a:solidFill>
                  <a:srgbClr val="FFFFFF"/>
                </a:solidFill>
              </a:rPr>
              <a:t>6. Tap "Assign Task" — assignee receives email</a:t>
            </a:r>
          </a:p>
        </p:txBody>
      </p:sp>
      <p:sp>
        <p:nvSpPr>
          <p:cNvPr id="9" name="TextBox 8"/>
          <p:cNvSpPr txBox="1"/>
          <p:nvPr/>
        </p:nvSpPr>
        <p:spPr>
          <a:xfrm>
            <a:off x="457200" y="3218688"/>
            <a:ext cx="5943600" cy="502920"/>
          </a:xfrm>
          <a:prstGeom prst="rect">
            <a:avLst/>
          </a:prstGeom>
          <a:noFill/>
        </p:spPr>
        <p:txBody>
          <a:bodyPr wrap="square">
            <a:spAutoFit/>
          </a:bodyPr>
          <a:lstStyle/>
          <a:p>
            <a:pPr algn="l"/>
            <a:r>
              <a:rPr sz="1300" b="0" i="0">
                <a:solidFill>
                  <a:srgbClr val="FFFFFF"/>
                </a:solidFill>
              </a:rPr>
              <a:t/>
            </a:r>
          </a:p>
        </p:txBody>
      </p:sp>
      <p:sp>
        <p:nvSpPr>
          <p:cNvPr id="10" name="TextBox 9"/>
          <p:cNvSpPr txBox="1"/>
          <p:nvPr/>
        </p:nvSpPr>
        <p:spPr>
          <a:xfrm>
            <a:off x="457200" y="3557016"/>
            <a:ext cx="5943600" cy="502920"/>
          </a:xfrm>
          <a:prstGeom prst="rect">
            <a:avLst/>
          </a:prstGeom>
          <a:noFill/>
        </p:spPr>
        <p:txBody>
          <a:bodyPr wrap="square">
            <a:spAutoFit/>
          </a:bodyPr>
          <a:lstStyle/>
          <a:p>
            <a:pPr algn="l"/>
            <a:r>
              <a:rPr sz="1300" b="0" i="0">
                <a:solidFill>
                  <a:srgbClr val="FFFFFF"/>
                </a:solidFill>
              </a:rPr>
              <a:t>Track completion: pending tasks show in the task list until marked complete.</a:t>
            </a:r>
          </a:p>
        </p:txBody>
      </p:sp>
      <p:pic>
        <p:nvPicPr>
          <p:cNvPr id="11" name="Picture 10" descr="screen_tasks.png"/>
          <p:cNvPicPr>
            <a:picLocks noChangeAspect="1"/>
          </p:cNvPicPr>
          <p:nvPr/>
        </p:nvPicPr>
        <p:blipFill>
          <a:blip r:embed="rId2"/>
          <a:stretch>
            <a:fillRect/>
          </a:stretch>
        </p:blipFill>
        <p:spPr>
          <a:xfrm>
            <a:off x="7955279" y="1234440"/>
            <a:ext cx="2118885" cy="4389120"/>
          </a:xfrm>
          <a:prstGeom prst="rect">
            <a:avLst/>
          </a:prstGeom>
        </p:spPr>
      </p:pic>
      <p:pic>
        <p:nvPicPr>
          <p:cNvPr id="12" name="Picture 11"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Schedule &amp; Timecard Oversight</a:t>
            </a:r>
          </a:p>
        </p:txBody>
      </p:sp>
      <p:sp>
        <p:nvSpPr>
          <p:cNvPr id="3" name="Rounded Rectangle 2"/>
          <p:cNvSpPr/>
          <p:nvPr/>
        </p:nvSpPr>
        <p:spPr>
          <a:xfrm>
            <a:off x="457200" y="1143000"/>
            <a:ext cx="6858000" cy="137160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143000"/>
            <a:ext cx="54864" cy="13716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16152"/>
            <a:ext cx="6400800" cy="256032"/>
          </a:xfrm>
          <a:prstGeom prst="rect">
            <a:avLst/>
          </a:prstGeom>
          <a:noFill/>
        </p:spPr>
        <p:txBody>
          <a:bodyPr wrap="square">
            <a:spAutoFit/>
          </a:bodyPr>
          <a:lstStyle/>
          <a:p>
            <a:pPr algn="l"/>
            <a:r>
              <a:rPr sz="1400" b="1" i="0">
                <a:solidFill>
                  <a:srgbClr val="6B21A8"/>
                </a:solidFill>
              </a:rPr>
              <a:t>Schedule</a:t>
            </a:r>
          </a:p>
        </p:txBody>
      </p:sp>
      <p:sp>
        <p:nvSpPr>
          <p:cNvPr id="6" name="TextBox 5"/>
          <p:cNvSpPr txBox="1"/>
          <p:nvPr/>
        </p:nvSpPr>
        <p:spPr>
          <a:xfrm>
            <a:off x="685800" y="1490472"/>
            <a:ext cx="6400800" cy="731520"/>
          </a:xfrm>
          <a:prstGeom prst="rect">
            <a:avLst/>
          </a:prstGeom>
          <a:noFill/>
        </p:spPr>
        <p:txBody>
          <a:bodyPr wrap="square">
            <a:spAutoFit/>
          </a:bodyPr>
          <a:lstStyle/>
          <a:p>
            <a:pPr algn="l"/>
            <a:r>
              <a:rPr sz="1300" b="0" i="0">
                <a:solidFill>
                  <a:srgbClr val="FFFFFF"/>
                </a:solidFill>
              </a:rPr>
              <a:t>Navigate to Staff Schedule to view schedules across your stores. Verify DMs have schedules posted 2 weeks in advance.</a:t>
            </a:r>
          </a:p>
        </p:txBody>
      </p:sp>
      <p:sp>
        <p:nvSpPr>
          <p:cNvPr id="7" name="Rounded Rectangle 6"/>
          <p:cNvSpPr/>
          <p:nvPr/>
        </p:nvSpPr>
        <p:spPr>
          <a:xfrm>
            <a:off x="457200" y="2697480"/>
            <a:ext cx="6858000" cy="1371600"/>
          </a:xfrm>
          <a:prstGeom prst="roundRect">
            <a:avLst>
              <a:gd name="adj" fmla="val 5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697480"/>
            <a:ext cx="54864"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770632"/>
            <a:ext cx="6400800" cy="256032"/>
          </a:xfrm>
          <a:prstGeom prst="rect">
            <a:avLst/>
          </a:prstGeom>
          <a:noFill/>
        </p:spPr>
        <p:txBody>
          <a:bodyPr wrap="square">
            <a:spAutoFit/>
          </a:bodyPr>
          <a:lstStyle/>
          <a:p>
            <a:pPr algn="l"/>
            <a:r>
              <a:rPr sz="1400" b="1" i="0">
                <a:solidFill>
                  <a:srgbClr val="F59E0B"/>
                </a:solidFill>
              </a:rPr>
              <a:t>Timecards</a:t>
            </a:r>
          </a:p>
        </p:txBody>
      </p:sp>
      <p:sp>
        <p:nvSpPr>
          <p:cNvPr id="10" name="TextBox 9"/>
          <p:cNvSpPr txBox="1"/>
          <p:nvPr/>
        </p:nvSpPr>
        <p:spPr>
          <a:xfrm>
            <a:off x="685800" y="3044952"/>
            <a:ext cx="6400800" cy="731520"/>
          </a:xfrm>
          <a:prstGeom prst="rect">
            <a:avLst/>
          </a:prstGeom>
          <a:noFill/>
        </p:spPr>
        <p:txBody>
          <a:bodyPr wrap="square">
            <a:spAutoFit/>
          </a:bodyPr>
          <a:lstStyle/>
          <a:p>
            <a:pPr algn="l"/>
            <a:r>
              <a:rPr sz="1300" b="0" i="0">
                <a:solidFill>
                  <a:srgbClr val="FFFFFF"/>
                </a:solidFill>
              </a:rPr>
              <a:t>Navigate to Timecards to review DM time entries. Validate that hours are accurate and flag any discrepancies.</a:t>
            </a:r>
          </a:p>
        </p:txBody>
      </p:sp>
      <p:pic>
        <p:nvPicPr>
          <p:cNvPr id="11" name="Picture 10" descr="screen_schedule.png"/>
          <p:cNvPicPr>
            <a:picLocks noChangeAspect="1"/>
          </p:cNvPicPr>
          <p:nvPr/>
        </p:nvPicPr>
        <p:blipFill>
          <a:blip r:embed="rId2"/>
          <a:stretch>
            <a:fillRect/>
          </a:stretch>
        </p:blipFill>
        <p:spPr>
          <a:xfrm>
            <a:off x="7955279" y="1234440"/>
            <a:ext cx="2118885" cy="4389120"/>
          </a:xfrm>
          <a:prstGeom prst="rect">
            <a:avLst/>
          </a:prstGeom>
        </p:spPr>
      </p:pic>
      <p:pic>
        <p:nvPicPr>
          <p:cNvPr id="12" name="Picture 11"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Payroll Review &amp; ADP Export</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Payroll to review hours across your stores.</a:t>
            </a:r>
          </a:p>
        </p:txBody>
      </p:sp>
      <p:sp>
        <p:nvSpPr>
          <p:cNvPr id="4" name="TextBox 3"/>
          <p:cNvSpPr txBox="1"/>
          <p:nvPr/>
        </p:nvSpPr>
        <p:spPr>
          <a:xfrm>
            <a:off x="457200" y="1508760"/>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28800"/>
            <a:ext cx="5943600" cy="502920"/>
          </a:xfrm>
          <a:prstGeom prst="rect">
            <a:avLst/>
          </a:prstGeom>
          <a:noFill/>
        </p:spPr>
        <p:txBody>
          <a:bodyPr wrap="square">
            <a:spAutoFit/>
          </a:bodyPr>
          <a:lstStyle/>
          <a:p>
            <a:pPr algn="l"/>
            <a:r>
              <a:rPr sz="1300" b="0" i="0">
                <a:solidFill>
                  <a:srgbClr val="FFFFFF"/>
                </a:solidFill>
              </a:rPr>
              <a:t>1. Review each DM's team hours for the pay period</a:t>
            </a:r>
          </a:p>
        </p:txBody>
      </p:sp>
      <p:sp>
        <p:nvSpPr>
          <p:cNvPr id="6" name="TextBox 5"/>
          <p:cNvSpPr txBox="1"/>
          <p:nvPr/>
        </p:nvSpPr>
        <p:spPr>
          <a:xfrm>
            <a:off x="457200" y="2148840"/>
            <a:ext cx="5943600" cy="502920"/>
          </a:xfrm>
          <a:prstGeom prst="rect">
            <a:avLst/>
          </a:prstGeom>
          <a:noFill/>
        </p:spPr>
        <p:txBody>
          <a:bodyPr wrap="square">
            <a:spAutoFit/>
          </a:bodyPr>
          <a:lstStyle/>
          <a:p>
            <a:pPr algn="l"/>
            <a:r>
              <a:rPr sz="1300" b="0" i="0">
                <a:solidFill>
                  <a:srgbClr val="FFFFFF"/>
                </a:solidFill>
              </a:rPr>
              <a:t>2. Verify DM payroll approvals are complete</a:t>
            </a:r>
          </a:p>
        </p:txBody>
      </p:sp>
      <p:sp>
        <p:nvSpPr>
          <p:cNvPr id="7" name="TextBox 6"/>
          <p:cNvSpPr txBox="1"/>
          <p:nvPr/>
        </p:nvSpPr>
        <p:spPr>
          <a:xfrm>
            <a:off x="457200" y="2468880"/>
            <a:ext cx="5943600" cy="502920"/>
          </a:xfrm>
          <a:prstGeom prst="rect">
            <a:avLst/>
          </a:prstGeom>
          <a:noFill/>
        </p:spPr>
        <p:txBody>
          <a:bodyPr wrap="square">
            <a:spAutoFit/>
          </a:bodyPr>
          <a:lstStyle/>
          <a:p>
            <a:pPr algn="l"/>
            <a:r>
              <a:rPr sz="1300" b="0" i="0">
                <a:solidFill>
                  <a:srgbClr val="FFFFFF"/>
                </a:solidFill>
              </a:rPr>
              <a:t>3. Use the Export to ADP button to download</a:t>
            </a:r>
          </a:p>
        </p:txBody>
      </p:sp>
      <p:sp>
        <p:nvSpPr>
          <p:cNvPr id="8" name="TextBox 7"/>
          <p:cNvSpPr txBox="1"/>
          <p:nvPr/>
        </p:nvSpPr>
        <p:spPr>
          <a:xfrm>
            <a:off x="457200" y="2788920"/>
            <a:ext cx="5943600" cy="502920"/>
          </a:xfrm>
          <a:prstGeom prst="rect">
            <a:avLst/>
          </a:prstGeom>
          <a:noFill/>
        </p:spPr>
        <p:txBody>
          <a:bodyPr wrap="square">
            <a:spAutoFit/>
          </a:bodyPr>
          <a:lstStyle/>
          <a:p>
            <a:pPr algn="l"/>
            <a:r>
              <a:rPr sz="1300" b="0" i="0">
                <a:solidFill>
                  <a:srgbClr val="FFFFFF"/>
                </a:solidFill>
              </a:rPr>
              <a:t>   the payroll file for ADP processing</a:t>
            </a:r>
          </a:p>
        </p:txBody>
      </p:sp>
      <p:sp>
        <p:nvSpPr>
          <p:cNvPr id="9" name="TextBox 8"/>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
            </a:r>
          </a:p>
        </p:txBody>
      </p:sp>
      <p:sp>
        <p:nvSpPr>
          <p:cNvPr id="10" name="TextBox 9"/>
          <p:cNvSpPr txBox="1"/>
          <p:nvPr/>
        </p:nvSpPr>
        <p:spPr>
          <a:xfrm>
            <a:off x="457200" y="3429000"/>
            <a:ext cx="5943600" cy="502920"/>
          </a:xfrm>
          <a:prstGeom prst="rect">
            <a:avLst/>
          </a:prstGeom>
          <a:noFill/>
        </p:spPr>
        <p:txBody>
          <a:bodyPr wrap="square">
            <a:spAutoFit/>
          </a:bodyPr>
          <a:lstStyle/>
          <a:p>
            <a:pPr algn="l"/>
            <a:r>
              <a:rPr sz="1300" b="0" i="0">
                <a:solidFill>
                  <a:srgbClr val="FFFFFF"/>
                </a:solidFill>
              </a:rPr>
              <a:t>Ensure all DMs have approved their team's payroll</a:t>
            </a:r>
          </a:p>
        </p:txBody>
      </p:sp>
      <p:sp>
        <p:nvSpPr>
          <p:cNvPr id="11" name="TextBox 10"/>
          <p:cNvSpPr txBox="1"/>
          <p:nvPr/>
        </p:nvSpPr>
        <p:spPr>
          <a:xfrm>
            <a:off x="457200" y="3749040"/>
            <a:ext cx="5943600" cy="502920"/>
          </a:xfrm>
          <a:prstGeom prst="rect">
            <a:avLst/>
          </a:prstGeom>
          <a:noFill/>
        </p:spPr>
        <p:txBody>
          <a:bodyPr wrap="square">
            <a:spAutoFit/>
          </a:bodyPr>
          <a:lstStyle/>
          <a:p>
            <a:pPr algn="l"/>
            <a:r>
              <a:rPr sz="1300" b="0" i="0">
                <a:solidFill>
                  <a:srgbClr val="FFFFFF"/>
                </a:solidFill>
              </a:rPr>
              <a:t>before running the ADP export.</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365760"/>
            <a:ext cx="10972800" cy="548640"/>
          </a:xfrm>
          <a:prstGeom prst="rect">
            <a:avLst/>
          </a:prstGeom>
          <a:noFill/>
        </p:spPr>
        <p:txBody>
          <a:bodyPr wrap="square">
            <a:spAutoFit/>
          </a:bodyPr>
          <a:lstStyle/>
          <a:p>
            <a:pPr algn="l"/>
            <a:r>
              <a:rPr sz="2800" b="1" i="0">
                <a:solidFill>
                  <a:srgbClr val="6B21A8"/>
                </a:solidFill>
              </a:rPr>
              <a:t>Support &amp; App Issues</a:t>
            </a:r>
          </a:p>
        </p:txBody>
      </p:sp>
      <p:sp>
        <p:nvSpPr>
          <p:cNvPr id="3" name="Rounded Rectangle 2"/>
          <p:cNvSpPr/>
          <p:nvPr/>
        </p:nvSpPr>
        <p:spPr>
          <a:xfrm>
            <a:off x="45720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34440"/>
            <a:ext cx="3200400" cy="960120"/>
          </a:xfrm>
          <a:prstGeom prst="rect">
            <a:avLst/>
          </a:prstGeom>
          <a:noFill/>
        </p:spPr>
        <p:txBody>
          <a:bodyPr wrap="square">
            <a:spAutoFit/>
          </a:bodyPr>
          <a:lstStyle/>
          <a:p>
            <a:pPr algn="l"/>
            <a:r>
              <a:rPr sz="1200" b="0" i="0">
                <a:solidFill>
                  <a:srgbClr val="FFFFFF"/>
                </a:solidFill>
              </a:rPr>
              <a:t>📸  Step 1: Take a screenshot of the error message or issue</a:t>
            </a:r>
          </a:p>
        </p:txBody>
      </p:sp>
      <p:sp>
        <p:nvSpPr>
          <p:cNvPr id="5" name="Rounded Rectangle 4"/>
          <p:cNvSpPr/>
          <p:nvPr/>
        </p:nvSpPr>
        <p:spPr>
          <a:xfrm>
            <a:off x="420624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43400" y="1234440"/>
            <a:ext cx="3200400" cy="960120"/>
          </a:xfrm>
          <a:prstGeom prst="rect">
            <a:avLst/>
          </a:prstGeom>
          <a:noFill/>
        </p:spPr>
        <p:txBody>
          <a:bodyPr wrap="square">
            <a:spAutoFit/>
          </a:bodyPr>
          <a:lstStyle/>
          <a:p>
            <a:pPr algn="l"/>
            <a:r>
              <a:rPr sz="1200" b="0" i="0">
                <a:solidFill>
                  <a:srgbClr val="FFFFFF"/>
                </a:solidFill>
              </a:rPr>
              <a:t>✉  Step 2: Email your Owner with a description and the screenshot attached</a:t>
            </a:r>
          </a:p>
        </p:txBody>
      </p:sp>
      <p:sp>
        <p:nvSpPr>
          <p:cNvPr id="7" name="Rounded Rectangle 6"/>
          <p:cNvSpPr/>
          <p:nvPr/>
        </p:nvSpPr>
        <p:spPr>
          <a:xfrm>
            <a:off x="7955279"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234440"/>
            <a:ext cx="3200400" cy="960120"/>
          </a:xfrm>
          <a:prstGeom prst="rect">
            <a:avLst/>
          </a:prstGeom>
          <a:noFill/>
        </p:spPr>
        <p:txBody>
          <a:bodyPr wrap="square">
            <a:spAutoFit/>
          </a:bodyPr>
          <a:lstStyle/>
          <a:p>
            <a:pPr algn="l"/>
            <a:r>
              <a:rPr sz="1200" b="0" i="0">
                <a:solidFill>
                  <a:srgbClr val="FFFFFF"/>
                </a:solidFill>
              </a:rPr>
              <a:t>📋  Step 3: Owner will forward to the developer for resolution</a:t>
            </a:r>
          </a:p>
        </p:txBody>
      </p:sp>
      <p:sp>
        <p:nvSpPr>
          <p:cNvPr id="9" name="Rounded Rectangle 8"/>
          <p:cNvSpPr/>
          <p:nvPr/>
        </p:nvSpPr>
        <p:spPr>
          <a:xfrm>
            <a:off x="457200" y="2697480"/>
            <a:ext cx="11274552" cy="1188720"/>
          </a:xfrm>
          <a:prstGeom prst="roundRect">
            <a:avLst>
              <a:gd name="adj" fmla="val 6000"/>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88920"/>
            <a:ext cx="10881360" cy="960120"/>
          </a:xfrm>
          <a:prstGeom prst="rect">
            <a:avLst/>
          </a:prstGeom>
          <a:noFill/>
        </p:spPr>
        <p:txBody>
          <a:bodyPr wrap="square">
            <a:spAutoFit/>
          </a:bodyPr>
          <a:lstStyle/>
          <a:p>
            <a:pPr algn="l"/>
            <a:r>
              <a:rPr sz="1400" b="1" i="0">
                <a:solidFill>
                  <a:srgbClr val="FFFFFF"/>
                </a:solidFill>
              </a:rPr>
              <a:t>⚠ Never share your login credentials. Do not clock in for another employee. Time fraud = immediate termination.</a:t>
            </a:r>
          </a:p>
        </p:txBody>
      </p:sp>
      <p:sp>
        <p:nvSpPr>
          <p:cNvPr id="11" name="TextBox 10"/>
          <p:cNvSpPr txBox="1"/>
          <p:nvPr/>
        </p:nvSpPr>
        <p:spPr>
          <a:xfrm>
            <a:off x="457200" y="4069080"/>
            <a:ext cx="10972800" cy="320040"/>
          </a:xfrm>
          <a:prstGeom prst="rect">
            <a:avLst/>
          </a:prstGeom>
          <a:noFill/>
        </p:spPr>
        <p:txBody>
          <a:bodyPr wrap="square">
            <a:spAutoFit/>
          </a:bodyPr>
          <a:lstStyle/>
          <a:p>
            <a:pPr algn="l"/>
            <a:r>
              <a:rPr sz="1200" b="0" i="0">
                <a:solidFill>
                  <a:srgbClr val="9CA3AF"/>
                </a:solidFill>
              </a:rPr>
              <a:t>fieldmanagerpro.app</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Owner</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Your guide to using Field Manager Pro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10972800" cy="548640"/>
          </a:xfrm>
          <a:prstGeom prst="rect">
            <a:avLst/>
          </a:prstGeom>
          <a:noFill/>
        </p:spPr>
        <p:txBody>
          <a:bodyPr wrap="square">
            <a:spAutoFit/>
          </a:bodyPr>
          <a:lstStyle/>
          <a:p>
            <a:pPr algn="l"/>
            <a:r>
              <a:rPr sz="2800" b="1" i="0">
                <a:solidFill>
                  <a:srgbClr val="6B21A8"/>
                </a:solidFill>
              </a:rPr>
              <a:t>Owner Responsibilities</a:t>
            </a:r>
          </a:p>
        </p:txBody>
      </p:sp>
      <p:sp>
        <p:nvSpPr>
          <p:cNvPr id="3" name="Oval 2"/>
          <p:cNvSpPr/>
          <p:nvPr/>
        </p:nvSpPr>
        <p:spPr>
          <a:xfrm>
            <a:off x="457200" y="128016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1188720"/>
            <a:ext cx="10972800" cy="457200"/>
          </a:xfrm>
          <a:prstGeom prst="rect">
            <a:avLst/>
          </a:prstGeom>
          <a:noFill/>
        </p:spPr>
        <p:txBody>
          <a:bodyPr wrap="square">
            <a:spAutoFit/>
          </a:bodyPr>
          <a:lstStyle/>
          <a:p>
            <a:pPr algn="l"/>
            <a:r>
              <a:rPr sz="1300" b="0" i="0">
                <a:solidFill>
                  <a:srgbClr val="FFFFFF"/>
                </a:solidFill>
              </a:rPr>
              <a:t>Primary operator of the organization in Field Manager Pro</a:t>
            </a:r>
          </a:p>
        </p:txBody>
      </p:sp>
      <p:sp>
        <p:nvSpPr>
          <p:cNvPr id="5" name="Oval 4"/>
          <p:cNvSpPr/>
          <p:nvPr/>
        </p:nvSpPr>
        <p:spPr>
          <a:xfrm>
            <a:off x="457200" y="187452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783080"/>
            <a:ext cx="10972800" cy="457200"/>
          </a:xfrm>
          <a:prstGeom prst="rect">
            <a:avLst/>
          </a:prstGeom>
          <a:noFill/>
        </p:spPr>
        <p:txBody>
          <a:bodyPr wrap="square">
            <a:spAutoFit/>
          </a:bodyPr>
          <a:lstStyle/>
          <a:p>
            <a:pPr algn="l"/>
            <a:r>
              <a:rPr sz="1300" b="0" i="0">
                <a:solidFill>
                  <a:srgbClr val="FFFFFF"/>
                </a:solidFill>
              </a:rPr>
              <a:t>Run company operations and inspections through the app</a:t>
            </a:r>
          </a:p>
        </p:txBody>
      </p:sp>
      <p:sp>
        <p:nvSpPr>
          <p:cNvPr id="7" name="Oval 6"/>
          <p:cNvSpPr/>
          <p:nvPr/>
        </p:nvSpPr>
        <p:spPr>
          <a:xfrm>
            <a:off x="457200" y="246888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377440"/>
            <a:ext cx="10972800" cy="457200"/>
          </a:xfrm>
          <a:prstGeom prst="rect">
            <a:avLst/>
          </a:prstGeom>
          <a:noFill/>
        </p:spPr>
        <p:txBody>
          <a:bodyPr wrap="square">
            <a:spAutoFit/>
          </a:bodyPr>
          <a:lstStyle/>
          <a:p>
            <a:pPr algn="l"/>
            <a:r>
              <a:rPr sz="1300" b="0" i="0">
                <a:solidFill>
                  <a:srgbClr val="FFFFFF"/>
                </a:solidFill>
              </a:rPr>
              <a:t>Assign tasks to Sales Director, Ops Manager, and DMs</a:t>
            </a:r>
          </a:p>
        </p:txBody>
      </p:sp>
      <p:sp>
        <p:nvSpPr>
          <p:cNvPr id="9" name="Oval 8"/>
          <p:cNvSpPr/>
          <p:nvPr/>
        </p:nvSpPr>
        <p:spPr>
          <a:xfrm>
            <a:off x="457200" y="306324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971800"/>
            <a:ext cx="10972800" cy="457200"/>
          </a:xfrm>
          <a:prstGeom prst="rect">
            <a:avLst/>
          </a:prstGeom>
          <a:noFill/>
        </p:spPr>
        <p:txBody>
          <a:bodyPr wrap="square">
            <a:spAutoFit/>
          </a:bodyPr>
          <a:lstStyle/>
          <a:p>
            <a:pPr algn="l"/>
            <a:r>
              <a:rPr sz="1300" b="0" i="0">
                <a:solidFill>
                  <a:srgbClr val="FFFFFF"/>
                </a:solidFill>
              </a:rPr>
              <a:t>Oversee scheduling compliance, timecard accuracy, and flag resolution</a:t>
            </a:r>
          </a:p>
        </p:txBody>
      </p:sp>
      <p:sp>
        <p:nvSpPr>
          <p:cNvPr id="11" name="Oval 10"/>
          <p:cNvSpPr/>
          <p:nvPr/>
        </p:nvSpPr>
        <p:spPr>
          <a:xfrm>
            <a:off x="457200" y="3657600"/>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566160"/>
            <a:ext cx="10972800" cy="457200"/>
          </a:xfrm>
          <a:prstGeom prst="rect">
            <a:avLst/>
          </a:prstGeom>
          <a:noFill/>
        </p:spPr>
        <p:txBody>
          <a:bodyPr wrap="square">
            <a:spAutoFit/>
          </a:bodyPr>
          <a:lstStyle/>
          <a:p>
            <a:pPr algn="l"/>
            <a:r>
              <a:rPr sz="1300" b="0" i="0">
                <a:solidFill>
                  <a:srgbClr val="FFFFFF"/>
                </a:solidFill>
              </a:rPr>
              <a:t>Manage your full team roster through the Team section</a:t>
            </a:r>
          </a:p>
        </p:txBody>
      </p:sp>
      <p:sp>
        <p:nvSpPr>
          <p:cNvPr id="13" name="Oval 12"/>
          <p:cNvSpPr/>
          <p:nvPr/>
        </p:nvSpPr>
        <p:spPr>
          <a:xfrm>
            <a:off x="457200" y="4251959"/>
            <a:ext cx="91440" cy="91440"/>
          </a:xfrm>
          <a:prstGeom prst="ellipse">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160520"/>
            <a:ext cx="10972800" cy="457200"/>
          </a:xfrm>
          <a:prstGeom prst="rect">
            <a:avLst/>
          </a:prstGeom>
          <a:noFill/>
        </p:spPr>
        <p:txBody>
          <a:bodyPr wrap="square">
            <a:spAutoFit/>
          </a:bodyPr>
          <a:lstStyle/>
          <a:p>
            <a:pPr algn="l"/>
            <a:r>
              <a:rPr sz="1300" b="0" i="0">
                <a:solidFill>
                  <a:srgbClr val="FFFFFF"/>
                </a:solidFill>
              </a:rPr>
              <a:t>First point of contact for app issues — forward to developer with screenshots</a:t>
            </a:r>
          </a:p>
        </p:txBody>
      </p:sp>
      <p:pic>
        <p:nvPicPr>
          <p:cNvPr id="15" name="Picture 14"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6" name="Rounded Rectangle 15"/>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Managing Your Team</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1. Navigate to Team</a:t>
            </a:r>
          </a:p>
        </p:txBody>
      </p:sp>
      <p:sp>
        <p:nvSpPr>
          <p:cNvPr id="4" name="TextBox 3"/>
          <p:cNvSpPr txBox="1"/>
          <p:nvPr/>
        </p:nvSpPr>
        <p:spPr>
          <a:xfrm>
            <a:off x="457200" y="1554480"/>
            <a:ext cx="5943600" cy="502920"/>
          </a:xfrm>
          <a:prstGeom prst="rect">
            <a:avLst/>
          </a:prstGeom>
          <a:noFill/>
        </p:spPr>
        <p:txBody>
          <a:bodyPr wrap="square">
            <a:spAutoFit/>
          </a:bodyPr>
          <a:lstStyle/>
          <a:p>
            <a:pPr algn="l"/>
            <a:r>
              <a:rPr sz="1300" b="0" i="0">
                <a:solidFill>
                  <a:srgbClr val="FFFFFF"/>
                </a:solidFill>
              </a:rPr>
              <a:t>2. Tap "+ Add User"</a:t>
            </a:r>
          </a:p>
        </p:txBody>
      </p:sp>
      <p:sp>
        <p:nvSpPr>
          <p:cNvPr id="5" name="TextBox 4"/>
          <p:cNvSpPr txBox="1"/>
          <p:nvPr/>
        </p:nvSpPr>
        <p:spPr>
          <a:xfrm>
            <a:off x="457200" y="1920240"/>
            <a:ext cx="5943600" cy="502920"/>
          </a:xfrm>
          <a:prstGeom prst="rect">
            <a:avLst/>
          </a:prstGeom>
          <a:noFill/>
        </p:spPr>
        <p:txBody>
          <a:bodyPr wrap="square">
            <a:spAutoFit/>
          </a:bodyPr>
          <a:lstStyle/>
          <a:p>
            <a:pPr algn="l"/>
            <a:r>
              <a:rPr sz="1300" b="0" i="0">
                <a:solidFill>
                  <a:srgbClr val="FFFFFF"/>
                </a:solidFill>
              </a:rPr>
              <a:t>3. Fill in name, username, email, temporary password, and role</a:t>
            </a:r>
          </a:p>
        </p:txBody>
      </p:sp>
      <p:sp>
        <p:nvSpPr>
          <p:cNvPr id="6" name="TextBox 5"/>
          <p:cNvSpPr txBox="1"/>
          <p:nvPr/>
        </p:nvSpPr>
        <p:spPr>
          <a:xfrm>
            <a:off x="457200" y="2286000"/>
            <a:ext cx="5943600" cy="502920"/>
          </a:xfrm>
          <a:prstGeom prst="rect">
            <a:avLst/>
          </a:prstGeom>
          <a:noFill/>
        </p:spPr>
        <p:txBody>
          <a:bodyPr wrap="square">
            <a:spAutoFit/>
          </a:bodyPr>
          <a:lstStyle/>
          <a:p>
            <a:pPr algn="l"/>
            <a:r>
              <a:rPr sz="1300" b="0" i="0">
                <a:solidFill>
                  <a:srgbClr val="FFFFFF"/>
                </a:solidFill>
              </a:rPr>
              <a:t>4. Tap Create — user receives welcome email with login credentials</a:t>
            </a:r>
          </a:p>
        </p:txBody>
      </p:sp>
      <p:sp>
        <p:nvSpPr>
          <p:cNvPr id="7" name="TextBox 6"/>
          <p:cNvSpPr txBox="1"/>
          <p:nvPr/>
        </p:nvSpPr>
        <p:spPr>
          <a:xfrm>
            <a:off x="457200" y="2651760"/>
            <a:ext cx="5943600" cy="502920"/>
          </a:xfrm>
          <a:prstGeom prst="rect">
            <a:avLst/>
          </a:prstGeom>
          <a:noFill/>
        </p:spPr>
        <p:txBody>
          <a:bodyPr wrap="square">
            <a:spAutoFit/>
          </a:bodyPr>
          <a:lstStyle/>
          <a:p>
            <a:pPr algn="l"/>
            <a:r>
              <a:rPr sz="1300" b="0" i="0">
                <a:solidFill>
                  <a:srgbClr val="FFFFFF"/>
                </a:solidFill>
              </a:rPr>
              <a:t/>
            </a:r>
          </a:p>
        </p:txBody>
      </p:sp>
      <p:sp>
        <p:nvSpPr>
          <p:cNvPr id="8" name="TextBox 7"/>
          <p:cNvSpPr txBox="1"/>
          <p:nvPr/>
        </p:nvSpPr>
        <p:spPr>
          <a:xfrm>
            <a:off x="457200" y="3017520"/>
            <a:ext cx="5943600" cy="502920"/>
          </a:xfrm>
          <a:prstGeom prst="rect">
            <a:avLst/>
          </a:prstGeom>
          <a:noFill/>
        </p:spPr>
        <p:txBody>
          <a:bodyPr wrap="square">
            <a:spAutoFit/>
          </a:bodyPr>
          <a:lstStyle/>
          <a:p>
            <a:pPr algn="l"/>
            <a:r>
              <a:rPr sz="1300" b="0" i="0">
                <a:solidFill>
                  <a:srgbClr val="FFFFFF"/>
                </a:solidFill>
              </a:rPr>
              <a:t>Edit/deactivate: tap any user → Edit → adjust fields → Save Changes
New views in Team: Role filter pills (quickly filter by role) | Org Chart (visual family-tree of your full team) | Bulk Import (add multiple employees at once)
Employee Approval: When a DM adds a new employee, the account is held as Pending until you approve it. A push notification alerts you instantly. In the Team section, a Pending Approval panel appears at the top — tap Approve to activate the account and send the welcome email, or Reject to remove the request.</a:t>
            </a:r>
          </a:p>
        </p:txBody>
      </p:sp>
      <p:pic>
        <p:nvPicPr>
          <p:cNvPr id="9" name="Picture 8" descr="screen_team.png"/>
          <p:cNvPicPr>
            <a:picLocks noChangeAspect="1"/>
          </p:cNvPicPr>
          <p:nvPr/>
        </p:nvPicPr>
        <p:blipFill>
          <a:blip r:embed="rId2"/>
          <a:stretch>
            <a:fillRect/>
          </a:stretch>
        </p:blipFill>
        <p:spPr>
          <a:xfrm>
            <a:off x="7955279" y="1234440"/>
            <a:ext cx="2118885" cy="4389120"/>
          </a:xfrm>
          <a:prstGeom prst="rect">
            <a:avLst/>
          </a:prstGeom>
        </p:spPr>
      </p:pic>
      <p:pic>
        <p:nvPicPr>
          <p:cNvPr id="10" name="Picture 9"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1" name="Rounded Rectangle 10"/>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Assigning Tasks</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Tasks → tap '+ Assign Task'</a:t>
            </a:r>
          </a:p>
        </p:txBody>
      </p:sp>
      <p:sp>
        <p:nvSpPr>
          <p:cNvPr id="4" name="TextBox 3"/>
          <p:cNvSpPr txBox="1"/>
          <p:nvPr/>
        </p:nvSpPr>
        <p:spPr>
          <a:xfrm>
            <a:off x="457200" y="1572768"/>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956816"/>
            <a:ext cx="5943600" cy="502920"/>
          </a:xfrm>
          <a:prstGeom prst="rect">
            <a:avLst/>
          </a:prstGeom>
          <a:noFill/>
        </p:spPr>
        <p:txBody>
          <a:bodyPr wrap="square">
            <a:spAutoFit/>
          </a:bodyPr>
          <a:lstStyle/>
          <a:p>
            <a:pPr algn="l"/>
            <a:r>
              <a:rPr sz="1300" b="0" i="0">
                <a:solidFill>
                  <a:srgbClr val="FFFFFF"/>
                </a:solidFill>
              </a:rPr>
              <a:t>Assign to: Sales Director, Ops Manager, or DM</a:t>
            </a:r>
          </a:p>
        </p:txBody>
      </p:sp>
      <p:sp>
        <p:nvSpPr>
          <p:cNvPr id="6" name="TextBox 5"/>
          <p:cNvSpPr txBox="1"/>
          <p:nvPr/>
        </p:nvSpPr>
        <p:spPr>
          <a:xfrm>
            <a:off x="457200" y="2340864"/>
            <a:ext cx="5943600" cy="502920"/>
          </a:xfrm>
          <a:prstGeom prst="rect">
            <a:avLst/>
          </a:prstGeom>
          <a:noFill/>
        </p:spPr>
        <p:txBody>
          <a:bodyPr wrap="square">
            <a:spAutoFit/>
          </a:bodyPr>
          <a:lstStyle/>
          <a:p>
            <a:pPr algn="l"/>
            <a:r>
              <a:rPr sz="1300" b="0" i="0">
                <a:solidFill>
                  <a:srgbClr val="FFFFFF"/>
                </a:solidFill>
              </a:rPr>
              <a:t/>
            </a:r>
          </a:p>
        </p:txBody>
      </p:sp>
      <p:sp>
        <p:nvSpPr>
          <p:cNvPr id="7" name="TextBox 6"/>
          <p:cNvSpPr txBox="1"/>
          <p:nvPr/>
        </p:nvSpPr>
        <p:spPr>
          <a:xfrm>
            <a:off x="457200" y="2724912"/>
            <a:ext cx="5943600" cy="502920"/>
          </a:xfrm>
          <a:prstGeom prst="rect">
            <a:avLst/>
          </a:prstGeom>
          <a:noFill/>
        </p:spPr>
        <p:txBody>
          <a:bodyPr wrap="square">
            <a:spAutoFit/>
          </a:bodyPr>
          <a:lstStyle/>
          <a:p>
            <a:pPr algn="l"/>
            <a:r>
              <a:rPr sz="1300" b="0" i="0">
                <a:solidFill>
                  <a:srgbClr val="FFFFFF"/>
                </a:solidFill>
              </a:rPr>
              <a:t>Set a due date for accountability — overdue tasks are highlighted in red</a:t>
            </a:r>
          </a:p>
        </p:txBody>
      </p:sp>
      <p:sp>
        <p:nvSpPr>
          <p:cNvPr id="8" name="TextBox 7"/>
          <p:cNvSpPr txBox="1"/>
          <p:nvPr/>
        </p:nvSpPr>
        <p:spPr>
          <a:xfrm>
            <a:off x="457200" y="3108960"/>
            <a:ext cx="5943600" cy="502920"/>
          </a:xfrm>
          <a:prstGeom prst="rect">
            <a:avLst/>
          </a:prstGeom>
          <a:noFill/>
        </p:spPr>
        <p:txBody>
          <a:bodyPr wrap="square">
            <a:spAutoFit/>
          </a:bodyPr>
          <a:lstStyle/>
          <a:p>
            <a:pPr algn="l"/>
            <a:r>
              <a:rPr sz="1300" b="0" i="0">
                <a:solidFill>
                  <a:srgbClr val="FFFFFF"/>
                </a:solidFill>
              </a:rPr>
              <a:t/>
            </a:r>
          </a:p>
        </p:txBody>
      </p:sp>
      <p:sp>
        <p:nvSpPr>
          <p:cNvPr id="9" name="TextBox 8"/>
          <p:cNvSpPr txBox="1"/>
          <p:nvPr/>
        </p:nvSpPr>
        <p:spPr>
          <a:xfrm>
            <a:off x="457200" y="3493008"/>
            <a:ext cx="5943600" cy="502920"/>
          </a:xfrm>
          <a:prstGeom prst="rect">
            <a:avLst/>
          </a:prstGeom>
          <a:noFill/>
        </p:spPr>
        <p:txBody>
          <a:bodyPr wrap="square">
            <a:spAutoFit/>
          </a:bodyPr>
          <a:lstStyle/>
          <a:p>
            <a:pPr algn="l"/>
            <a:r>
              <a:rPr sz="1300" b="0" i="0">
                <a:solidFill>
                  <a:srgbClr val="FFFFFF"/>
                </a:solidFill>
              </a:rPr>
              <a:t>Track completion: tasks show as Pending or Completed</a:t>
            </a:r>
          </a:p>
        </p:txBody>
      </p:sp>
      <p:pic>
        <p:nvPicPr>
          <p:cNvPr id="10" name="Picture 9" descr="screen_tasks.png"/>
          <p:cNvPicPr>
            <a:picLocks noChangeAspect="1"/>
          </p:cNvPicPr>
          <p:nvPr/>
        </p:nvPicPr>
        <p:blipFill>
          <a:blip r:embed="rId2"/>
          <a:stretch>
            <a:fillRect/>
          </a:stretch>
        </p:blipFill>
        <p:spPr>
          <a:xfrm>
            <a:off x="7955279" y="1234440"/>
            <a:ext cx="2118885" cy="4389120"/>
          </a:xfrm>
          <a:prstGeom prst="rect">
            <a:avLst/>
          </a:prstGeom>
        </p:spPr>
      </p:pic>
      <p:pic>
        <p:nvPicPr>
          <p:cNvPr id="11" name="Picture 10"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2" name="Rounded Rectangle 11"/>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Store Inspections (DM Visit)</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DM Visit to log store inspection visits.</a:t>
            </a:r>
          </a:p>
        </p:txBody>
      </p:sp>
      <p:sp>
        <p:nvSpPr>
          <p:cNvPr id="4" name="TextBox 3"/>
          <p:cNvSpPr txBox="1"/>
          <p:nvPr/>
        </p:nvSpPr>
        <p:spPr>
          <a:xfrm>
            <a:off x="457200" y="1572768"/>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956816"/>
            <a:ext cx="5943600" cy="502920"/>
          </a:xfrm>
          <a:prstGeom prst="rect">
            <a:avLst/>
          </a:prstGeom>
          <a:noFill/>
        </p:spPr>
        <p:txBody>
          <a:bodyPr wrap="square">
            <a:spAutoFit/>
          </a:bodyPr>
          <a:lstStyle/>
          <a:p>
            <a:pPr algn="l"/>
            <a:r>
              <a:rPr sz="1300" b="0" i="0">
                <a:solidFill>
                  <a:srgbClr val="FFFFFF"/>
                </a:solidFill>
              </a:rPr>
              <a:t>Record visit details, observations, and outcomes.</a:t>
            </a:r>
          </a:p>
        </p:txBody>
      </p:sp>
      <p:sp>
        <p:nvSpPr>
          <p:cNvPr id="6" name="TextBox 5"/>
          <p:cNvSpPr txBox="1"/>
          <p:nvPr/>
        </p:nvSpPr>
        <p:spPr>
          <a:xfrm>
            <a:off x="457200" y="2340864"/>
            <a:ext cx="5943600" cy="502920"/>
          </a:xfrm>
          <a:prstGeom prst="rect">
            <a:avLst/>
          </a:prstGeom>
          <a:noFill/>
        </p:spPr>
        <p:txBody>
          <a:bodyPr wrap="square">
            <a:spAutoFit/>
          </a:bodyPr>
          <a:lstStyle/>
          <a:p>
            <a:pPr algn="l"/>
            <a:r>
              <a:rPr sz="1300" b="0" i="0">
                <a:solidFill>
                  <a:srgbClr val="FFFFFF"/>
                </a:solidFill>
              </a:rPr>
              <a:t/>
            </a:r>
          </a:p>
        </p:txBody>
      </p:sp>
      <p:sp>
        <p:nvSpPr>
          <p:cNvPr id="7" name="TextBox 6"/>
          <p:cNvSpPr txBox="1"/>
          <p:nvPr/>
        </p:nvSpPr>
        <p:spPr>
          <a:xfrm>
            <a:off x="457200" y="2724912"/>
            <a:ext cx="5943600" cy="502920"/>
          </a:xfrm>
          <a:prstGeom prst="rect">
            <a:avLst/>
          </a:prstGeom>
          <a:noFill/>
        </p:spPr>
        <p:txBody>
          <a:bodyPr wrap="square">
            <a:spAutoFit/>
          </a:bodyPr>
          <a:lstStyle/>
          <a:p>
            <a:pPr algn="l"/>
            <a:r>
              <a:rPr sz="1300" b="0" i="0">
                <a:solidFill>
                  <a:srgbClr val="FFFFFF"/>
                </a:solidFill>
              </a:rPr>
              <a:t>Use this to track compliance and document findings.</a:t>
            </a:r>
          </a:p>
        </p:txBody>
      </p:sp>
      <p:pic>
        <p:nvPicPr>
          <p:cNvPr id="8" name="Picture 7" descr="Icon-1024.png"/>
          <p:cNvPicPr>
            <a:picLocks noChangeAspect="1"/>
          </p:cNvPicPr>
          <p:nvPr/>
        </p:nvPicPr>
        <p:blipFill>
          <a:blip r:embed="rId2"/>
          <a:stretch>
            <a:fillRect/>
          </a:stretch>
        </p:blipFill>
        <p:spPr>
          <a:xfrm>
            <a:off x="10520172" y="5280660"/>
            <a:ext cx="1440180" cy="1440180"/>
          </a:xfrm>
          <a:prstGeom prst="rect">
            <a:avLst/>
          </a:prstGeom>
        </p:spPr>
      </p:pic>
      <p:sp>
        <p:nvSpPr>
          <p:cNvPr id="9" name="Rounded Rectangle 8"/>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Map View</a:t>
            </a:r>
          </a:p>
        </p:txBody>
      </p:sp>
      <p:sp>
        <p:nvSpPr>
          <p:cNvPr id="3" name="TextBox 2"/>
          <p:cNvSpPr txBox="1"/>
          <p:nvPr/>
        </p:nvSpPr>
        <p:spPr>
          <a:xfrm>
            <a:off x="457200" y="1188720"/>
            <a:ext cx="5943600" cy="502920"/>
          </a:xfrm>
          <a:prstGeom prst="rect">
            <a:avLst/>
          </a:prstGeom>
          <a:noFill/>
        </p:spPr>
        <p:txBody>
          <a:bodyPr wrap="square">
            <a:spAutoFit/>
          </a:bodyPr>
          <a:lstStyle/>
          <a:p>
            <a:pPr algn="l"/>
            <a:r>
              <a:t>Navigate to Map to view real-time team locations and GPS history.</a:t>
            </a:r>
          </a:p>
          <a:p>
            <a:pPr algn="l"/>
          </a:p>
          <a:p>
            <a:pPr algn="l"/>
            <a:r>
              <a:t>Live Mode (default): See active locations of anyone currently clocked in, updated in real time.</a:t>
            </a:r>
          </a:p>
          <a:p>
            <a:pPr algn="l"/>
          </a:p>
          <a:p>
            <a:pPr algn="l"/>
            <a:r>
              <a:t>Historical Mode: Replay any DM's route for a past date — view the full GPS breadcrumb trail.</a:t>
            </a:r>
          </a:p>
          <a:p>
            <a:pPr algn="l"/>
          </a:p>
          <a:p>
            <a:pPr algn="l"/>
            <a:r>
              <a:t>Use this to verify staff were on-site at clock-in and to review DM field activity.</a:t>
            </a:r>
          </a:p>
        </p:txBody>
      </p:sp>
      <p:sp>
        <p:nvSpPr>
          <p:cNvPr id="4" name="TextBox 3"/>
          <p:cNvSpPr txBox="1"/>
          <p:nvPr/>
        </p:nvSpPr>
        <p:spPr>
          <a:xfrm>
            <a:off x="457200" y="1600200"/>
            <a:ext cx="5943600" cy="502920"/>
          </a:xfrm>
          <a:prstGeom prst="rect">
            <a:avLst/>
          </a:prstGeom>
          <a:noFill/>
        </p:spPr>
        <p:txBody>
          <a:bodyPr wrap="square">
            <a:spAutoFit/>
          </a:bodyPr>
          <a:lstStyle/>
          <a:p>
            <a:pPr algn="l"/>
            <a:r>
              <a:rPr sz="1300" b="0" i="0">
                <a:solidFill>
                  <a:srgbClr val="FFFFFF"/>
                </a:solidFill>
              </a:rPr>
              <a:t/>
            </a:r>
          </a:p>
        </p:txBody>
      </p:sp>
      <p:sp>
        <p:nvSpPr>
          <p:cNvPr id="6" name="TextBox 5"/>
          <p:cNvSpPr txBox="1"/>
          <p:nvPr/>
        </p:nvSpPr>
        <p:spPr>
          <a:xfrm>
            <a:off x="457200" y="2423160"/>
            <a:ext cx="5943600" cy="502920"/>
          </a:xfrm>
          <a:prstGeom prst="rect">
            <a:avLst/>
          </a:prstGeom>
          <a:noFill/>
        </p:spPr>
        <p:txBody>
          <a:bodyPr wrap="square">
            <a:spAutoFit/>
          </a:bodyPr>
          <a:lstStyle/>
          <a:p>
            <a:pPr algn="l"/>
            <a:r>
              <a:rPr sz="1300" b="0" i="0">
                <a:solidFill>
                  <a:srgbClr val="FFFFFF"/>
                </a:solidFill>
              </a:rPr>
              <a:t/>
            </a:r>
          </a:p>
        </p:txBody>
      </p:sp>
      <p:pic>
        <p:nvPicPr>
          <p:cNvPr id="8" name="Picture 7" descr="screen_map.png"/>
          <p:cNvPicPr>
            <a:picLocks noChangeAspect="1"/>
          </p:cNvPicPr>
          <p:nvPr/>
        </p:nvPicPr>
        <p:blipFill>
          <a:blip r:embed="rId2"/>
          <a:stretch>
            <a:fillRect/>
          </a:stretch>
        </p:blipFill>
        <p:spPr>
          <a:xfrm>
            <a:off x="7955279" y="1234440"/>
            <a:ext cx="2118885" cy="4389120"/>
          </a:xfrm>
          <a:prstGeom prst="rect">
            <a:avLst/>
          </a:prstGeom>
        </p:spPr>
      </p:pic>
      <p:pic>
        <p:nvPicPr>
          <p:cNvPr id="9" name="Picture 8"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0" name="Rounded Rectangle 9"/>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Approving Expenses</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Expenses to review submitted expense requests.</a:t>
            </a:r>
          </a:p>
        </p:txBody>
      </p:sp>
      <p:sp>
        <p:nvSpPr>
          <p:cNvPr id="4" name="TextBox 3"/>
          <p:cNvSpPr txBox="1"/>
          <p:nvPr/>
        </p:nvSpPr>
        <p:spPr>
          <a:xfrm>
            <a:off x="457200" y="1536192"/>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83664"/>
            <a:ext cx="5943600" cy="502920"/>
          </a:xfrm>
          <a:prstGeom prst="rect">
            <a:avLst/>
          </a:prstGeom>
          <a:noFill/>
        </p:spPr>
        <p:txBody>
          <a:bodyPr wrap="square">
            <a:spAutoFit/>
          </a:bodyPr>
          <a:lstStyle/>
          <a:p>
            <a:pPr algn="l"/>
            <a:r>
              <a:rPr sz="1300" b="0" i="0">
                <a:solidFill>
                  <a:srgbClr val="FFFFFF"/>
                </a:solidFill>
              </a:rPr>
              <a:t>1. Tap a pending expense to view details</a:t>
            </a:r>
          </a:p>
        </p:txBody>
      </p:sp>
      <p:sp>
        <p:nvSpPr>
          <p:cNvPr id="6" name="TextBox 5"/>
          <p:cNvSpPr txBox="1"/>
          <p:nvPr/>
        </p:nvSpPr>
        <p:spPr>
          <a:xfrm>
            <a:off x="457200" y="2231136"/>
            <a:ext cx="5943600" cy="502920"/>
          </a:xfrm>
          <a:prstGeom prst="rect">
            <a:avLst/>
          </a:prstGeom>
          <a:noFill/>
        </p:spPr>
        <p:txBody>
          <a:bodyPr wrap="square">
            <a:spAutoFit/>
          </a:bodyPr>
          <a:lstStyle/>
          <a:p>
            <a:pPr algn="l"/>
            <a:r>
              <a:rPr sz="1300" b="0" i="0">
                <a:solidFill>
                  <a:srgbClr val="FFFFFF"/>
                </a:solidFill>
              </a:rPr>
              <a:t>2. Review the amount, category, description,</a:t>
            </a:r>
          </a:p>
        </p:txBody>
      </p:sp>
      <p:sp>
        <p:nvSpPr>
          <p:cNvPr id="7" name="TextBox 6"/>
          <p:cNvSpPr txBox="1"/>
          <p:nvPr/>
        </p:nvSpPr>
        <p:spPr>
          <a:xfrm>
            <a:off x="457200" y="2578608"/>
            <a:ext cx="5943600" cy="502920"/>
          </a:xfrm>
          <a:prstGeom prst="rect">
            <a:avLst/>
          </a:prstGeom>
          <a:noFill/>
        </p:spPr>
        <p:txBody>
          <a:bodyPr wrap="square">
            <a:spAutoFit/>
          </a:bodyPr>
          <a:lstStyle/>
          <a:p>
            <a:pPr algn="l"/>
            <a:r>
              <a:rPr sz="1300" b="0" i="0">
                <a:solidFill>
                  <a:srgbClr val="FFFFFF"/>
                </a:solidFill>
              </a:rPr>
              <a:t>   and attached receipt</a:t>
            </a:r>
          </a:p>
        </p:txBody>
      </p:sp>
      <p:sp>
        <p:nvSpPr>
          <p:cNvPr id="8" name="TextBox 7"/>
          <p:cNvSpPr txBox="1"/>
          <p:nvPr/>
        </p:nvSpPr>
        <p:spPr>
          <a:xfrm>
            <a:off x="457200" y="2926079"/>
            <a:ext cx="5943600" cy="502920"/>
          </a:xfrm>
          <a:prstGeom prst="rect">
            <a:avLst/>
          </a:prstGeom>
          <a:noFill/>
        </p:spPr>
        <p:txBody>
          <a:bodyPr wrap="square">
            <a:spAutoFit/>
          </a:bodyPr>
          <a:lstStyle/>
          <a:p>
            <a:pPr algn="l"/>
            <a:r>
              <a:rPr sz="1300" b="0" i="0">
                <a:solidFill>
                  <a:srgbClr val="FFFFFF"/>
                </a:solidFill>
              </a:rPr>
              <a:t>3. Tap Approve or Reject</a:t>
            </a:r>
          </a:p>
        </p:txBody>
      </p:sp>
      <p:sp>
        <p:nvSpPr>
          <p:cNvPr id="9" name="TextBox 8"/>
          <p:cNvSpPr txBox="1"/>
          <p:nvPr/>
        </p:nvSpPr>
        <p:spPr>
          <a:xfrm>
            <a:off x="457200" y="3273551"/>
            <a:ext cx="5943600" cy="502920"/>
          </a:xfrm>
          <a:prstGeom prst="rect">
            <a:avLst/>
          </a:prstGeom>
          <a:noFill/>
        </p:spPr>
        <p:txBody>
          <a:bodyPr wrap="square">
            <a:spAutoFit/>
          </a:bodyPr>
          <a:lstStyle/>
          <a:p>
            <a:pPr algn="l"/>
            <a:r>
              <a:rPr sz="1300" b="0" i="0">
                <a:solidFill>
                  <a:srgbClr val="FFFFFF"/>
                </a:solidFill>
              </a:rPr>
              <a:t>4. Add a note if rejecting</a:t>
            </a:r>
          </a:p>
        </p:txBody>
      </p:sp>
      <p:sp>
        <p:nvSpPr>
          <p:cNvPr id="10" name="TextBox 9"/>
          <p:cNvSpPr txBox="1"/>
          <p:nvPr/>
        </p:nvSpPr>
        <p:spPr>
          <a:xfrm>
            <a:off x="457200" y="3621023"/>
            <a:ext cx="5943600" cy="502920"/>
          </a:xfrm>
          <a:prstGeom prst="rect">
            <a:avLst/>
          </a:prstGeom>
          <a:noFill/>
        </p:spPr>
        <p:txBody>
          <a:bodyPr wrap="square">
            <a:spAutoFit/>
          </a:bodyPr>
          <a:lstStyle/>
          <a:p>
            <a:pPr algn="l"/>
            <a:r>
              <a:rPr sz="1300" b="0" i="0">
                <a:solidFill>
                  <a:srgbClr val="FFFFFF"/>
                </a:solidFill>
              </a:rPr>
              <a:t/>
            </a:r>
          </a:p>
        </p:txBody>
      </p:sp>
      <p:sp>
        <p:nvSpPr>
          <p:cNvPr id="11" name="TextBox 10"/>
          <p:cNvSpPr txBox="1"/>
          <p:nvPr/>
        </p:nvSpPr>
        <p:spPr>
          <a:xfrm>
            <a:off x="457200" y="3968496"/>
            <a:ext cx="5943600" cy="502920"/>
          </a:xfrm>
          <a:prstGeom prst="rect">
            <a:avLst/>
          </a:prstGeom>
          <a:noFill/>
        </p:spPr>
        <p:txBody>
          <a:bodyPr wrap="square">
            <a:spAutoFit/>
          </a:bodyPr>
          <a:lstStyle/>
          <a:p>
            <a:pPr algn="l"/>
            <a:r>
              <a:rPr sz="1300" b="0" i="0">
                <a:solidFill>
                  <a:srgbClr val="FFFFFF"/>
                </a:solidFill>
              </a:rPr>
              <a:t>Submitter is notified of your decision automatically.</a:t>
            </a:r>
          </a:p>
        </p:txBody>
      </p:sp>
      <p:pic>
        <p:nvPicPr>
          <p:cNvPr id="12" name="Picture 11" descr="screen_expenses.png"/>
          <p:cNvPicPr>
            <a:picLocks noChangeAspect="1"/>
          </p:cNvPicPr>
          <p:nvPr/>
        </p:nvPicPr>
        <p:blipFill>
          <a:blip r:embed="rId2"/>
          <a:stretch>
            <a:fillRect/>
          </a:stretch>
        </p:blipFill>
        <p:spPr>
          <a:xfrm>
            <a:off x="7955279" y="1234440"/>
            <a:ext cx="2118885" cy="4389120"/>
          </a:xfrm>
          <a:prstGeom prst="rect">
            <a:avLst/>
          </a:prstGeom>
        </p:spPr>
      </p:pic>
      <p:pic>
        <p:nvPicPr>
          <p:cNvPr id="13" name="Picture 12" descr="Icon-1024.png"/>
          <p:cNvPicPr>
            <a:picLocks noChangeAspect="1"/>
          </p:cNvPicPr>
          <p:nvPr/>
        </p:nvPicPr>
        <p:blipFill>
          <a:blip r:embed="rId3"/>
          <a:stretch>
            <a:fillRect/>
          </a:stretch>
        </p:blipFill>
        <p:spPr>
          <a:xfrm>
            <a:off x="10520172" y="5280660"/>
            <a:ext cx="1440180" cy="1440180"/>
          </a:xfrm>
          <a:prstGeom prst="rect">
            <a:avLst/>
          </a:prstGeom>
        </p:spPr>
      </p:pic>
      <p:sp>
        <p:nvSpPr>
          <p:cNvPr id="14" name="Rounded Rectangle 13"/>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502920"/>
            <a:ext cx="5943600" cy="548640"/>
          </a:xfrm>
          <a:prstGeom prst="rect">
            <a:avLst/>
          </a:prstGeom>
          <a:noFill/>
        </p:spPr>
        <p:txBody>
          <a:bodyPr wrap="square">
            <a:spAutoFit/>
          </a:bodyPr>
          <a:lstStyle/>
          <a:p>
            <a:pPr algn="l"/>
            <a:r>
              <a:rPr sz="2800" b="1" i="0">
                <a:solidFill>
                  <a:srgbClr val="6B21A8"/>
                </a:solidFill>
              </a:rPr>
              <a:t>Managing Payroll</a:t>
            </a:r>
          </a:p>
        </p:txBody>
      </p:sp>
      <p:sp>
        <p:nvSpPr>
          <p:cNvPr id="3" name="TextBox 2"/>
          <p:cNvSpPr txBox="1"/>
          <p:nvPr/>
        </p:nvSpPr>
        <p:spPr>
          <a:xfrm>
            <a:off x="457200" y="1188720"/>
            <a:ext cx="5943600" cy="502920"/>
          </a:xfrm>
          <a:prstGeom prst="rect">
            <a:avLst/>
          </a:prstGeom>
          <a:noFill/>
        </p:spPr>
        <p:txBody>
          <a:bodyPr wrap="square">
            <a:spAutoFit/>
          </a:bodyPr>
          <a:lstStyle/>
          <a:p>
            <a:pPr algn="l"/>
            <a:r>
              <a:rPr sz="1300" b="0" i="0">
                <a:solidFill>
                  <a:srgbClr val="FFFFFF"/>
                </a:solidFill>
              </a:rPr>
              <a:t>Navigate to Payroll to oversee the full payroll cycle.</a:t>
            </a:r>
          </a:p>
        </p:txBody>
      </p:sp>
      <p:sp>
        <p:nvSpPr>
          <p:cNvPr id="4" name="TextBox 3"/>
          <p:cNvSpPr txBox="1"/>
          <p:nvPr/>
        </p:nvSpPr>
        <p:spPr>
          <a:xfrm>
            <a:off x="457200" y="1536192"/>
            <a:ext cx="5943600" cy="502920"/>
          </a:xfrm>
          <a:prstGeom prst="rect">
            <a:avLst/>
          </a:prstGeom>
          <a:noFill/>
        </p:spPr>
        <p:txBody>
          <a:bodyPr wrap="square">
            <a:spAutoFit/>
          </a:bodyPr>
          <a:lstStyle/>
          <a:p>
            <a:pPr algn="l"/>
            <a:r>
              <a:rPr sz="1300" b="0" i="0">
                <a:solidFill>
                  <a:srgbClr val="FFFFFF"/>
                </a:solidFill>
              </a:rPr>
              <a:t/>
            </a:r>
          </a:p>
        </p:txBody>
      </p:sp>
      <p:sp>
        <p:nvSpPr>
          <p:cNvPr id="5" name="TextBox 4"/>
          <p:cNvSpPr txBox="1"/>
          <p:nvPr/>
        </p:nvSpPr>
        <p:spPr>
          <a:xfrm>
            <a:off x="457200" y="1883664"/>
            <a:ext cx="5943600" cy="502920"/>
          </a:xfrm>
          <a:prstGeom prst="rect">
            <a:avLst/>
          </a:prstGeom>
          <a:noFill/>
        </p:spPr>
        <p:txBody>
          <a:bodyPr wrap="square">
            <a:spAutoFit/>
          </a:bodyPr>
          <a:lstStyle/>
          <a:p>
            <a:pPr algn="l"/>
            <a:r>
              <a:rPr sz="1300" b="0" i="0">
                <a:solidFill>
                  <a:srgbClr val="FFFFFF"/>
                </a:solidFill>
              </a:rPr>
              <a:t>1. Confirm all DMs have approved their team's hours</a:t>
            </a:r>
          </a:p>
        </p:txBody>
      </p:sp>
      <p:sp>
        <p:nvSpPr>
          <p:cNvPr id="6" name="TextBox 5"/>
          <p:cNvSpPr txBox="1"/>
          <p:nvPr/>
        </p:nvSpPr>
        <p:spPr>
          <a:xfrm>
            <a:off x="457200" y="2231136"/>
            <a:ext cx="5943600" cy="502920"/>
          </a:xfrm>
          <a:prstGeom prst="rect">
            <a:avLst/>
          </a:prstGeom>
          <a:noFill/>
        </p:spPr>
        <p:txBody>
          <a:bodyPr wrap="square">
            <a:spAutoFit/>
          </a:bodyPr>
          <a:lstStyle/>
          <a:p>
            <a:pPr algn="l"/>
            <a:r>
              <a:rPr sz="1300" b="0" i="0">
                <a:solidFill>
                  <a:srgbClr val="FFFFFF"/>
                </a:solidFill>
              </a:rPr>
              <a:t>2. Review total hours across all stores</a:t>
            </a:r>
          </a:p>
        </p:txBody>
      </p:sp>
      <p:sp>
        <p:nvSpPr>
          <p:cNvPr id="7" name="TextBox 6"/>
          <p:cNvSpPr txBox="1"/>
          <p:nvPr/>
        </p:nvSpPr>
        <p:spPr>
          <a:xfrm>
            <a:off x="457200" y="2578608"/>
            <a:ext cx="5943600" cy="502920"/>
          </a:xfrm>
          <a:prstGeom prst="rect">
            <a:avLst/>
          </a:prstGeom>
          <a:noFill/>
        </p:spPr>
        <p:txBody>
          <a:bodyPr wrap="square">
            <a:spAutoFit/>
          </a:bodyPr>
          <a:lstStyle/>
          <a:p>
            <a:pPr algn="l"/>
            <a:r>
              <a:rPr sz="1300" b="0" i="0">
                <a:solidFill>
                  <a:srgbClr val="FFFFFF"/>
                </a:solidFill>
              </a:rPr>
              <a:t>3. Tap Export to ADP to generate the payroll file</a:t>
            </a:r>
          </a:p>
        </p:txBody>
      </p:sp>
      <p:sp>
        <p:nvSpPr>
          <p:cNvPr id="8" name="TextBox 7"/>
          <p:cNvSpPr txBox="1"/>
          <p:nvPr/>
        </p:nvSpPr>
        <p:spPr>
          <a:xfrm>
            <a:off x="457200" y="2926079"/>
            <a:ext cx="5943600" cy="502920"/>
          </a:xfrm>
          <a:prstGeom prst="rect">
            <a:avLst/>
          </a:prstGeom>
          <a:noFill/>
        </p:spPr>
        <p:txBody>
          <a:bodyPr wrap="square">
            <a:spAutoFit/>
          </a:bodyPr>
          <a:lstStyle/>
          <a:p>
            <a:pPr algn="l"/>
            <a:r>
              <a:rPr sz="1300" b="0" i="0">
                <a:solidFill>
                  <a:srgbClr val="FFFFFF"/>
                </a:solidFill>
              </a:rPr>
              <a:t>4. Upload the file to ADP to process payroll</a:t>
            </a:r>
          </a:p>
        </p:txBody>
      </p:sp>
      <p:sp>
        <p:nvSpPr>
          <p:cNvPr id="9" name="TextBox 8"/>
          <p:cNvSpPr txBox="1"/>
          <p:nvPr/>
        </p:nvSpPr>
        <p:spPr>
          <a:xfrm>
            <a:off x="457200" y="3273551"/>
            <a:ext cx="5943600" cy="502920"/>
          </a:xfrm>
          <a:prstGeom prst="rect">
            <a:avLst/>
          </a:prstGeom>
          <a:noFill/>
        </p:spPr>
        <p:txBody>
          <a:bodyPr wrap="square">
            <a:spAutoFit/>
          </a:bodyPr>
          <a:lstStyle/>
          <a:p>
            <a:pPr algn="l"/>
            <a:r>
              <a:rPr sz="1300" b="0" i="0">
                <a:solidFill>
                  <a:srgbClr val="FFFFFF"/>
                </a:solidFill>
              </a:rPr>
              <a:t/>
            </a:r>
          </a:p>
        </p:txBody>
      </p:sp>
      <p:sp>
        <p:nvSpPr>
          <p:cNvPr id="10" name="TextBox 9"/>
          <p:cNvSpPr txBox="1"/>
          <p:nvPr/>
        </p:nvSpPr>
        <p:spPr>
          <a:xfrm>
            <a:off x="457200" y="3621023"/>
            <a:ext cx="5943600" cy="502920"/>
          </a:xfrm>
          <a:prstGeom prst="rect">
            <a:avLst/>
          </a:prstGeom>
          <a:noFill/>
        </p:spPr>
        <p:txBody>
          <a:bodyPr wrap="square">
            <a:spAutoFit/>
          </a:bodyPr>
          <a:lstStyle/>
          <a:p>
            <a:pPr algn="l"/>
            <a:r>
              <a:rPr sz="1300" b="0" i="0">
                <a:solidFill>
                  <a:srgbClr val="FFFFFF"/>
                </a:solidFill>
              </a:rPr>
              <a:t>The ADP export includes all approved hours for</a:t>
            </a:r>
          </a:p>
        </p:txBody>
      </p:sp>
      <p:sp>
        <p:nvSpPr>
          <p:cNvPr id="11" name="TextBox 10"/>
          <p:cNvSpPr txBox="1"/>
          <p:nvPr/>
        </p:nvSpPr>
        <p:spPr>
          <a:xfrm>
            <a:off x="457200" y="3968496"/>
            <a:ext cx="5943600" cy="502920"/>
          </a:xfrm>
          <a:prstGeom prst="rect">
            <a:avLst/>
          </a:prstGeom>
          <a:noFill/>
        </p:spPr>
        <p:txBody>
          <a:bodyPr wrap="square">
            <a:spAutoFit/>
          </a:bodyPr>
          <a:lstStyle/>
          <a:p>
            <a:pPr algn="l"/>
            <a:r>
              <a:rPr sz="1300" b="0" i="0">
                <a:solidFill>
                  <a:srgbClr val="FFFFFF"/>
                </a:solidFill>
              </a:rPr>
              <a:t>the current pay period.</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365760"/>
            <a:ext cx="10972800" cy="548640"/>
          </a:xfrm>
          <a:prstGeom prst="rect">
            <a:avLst/>
          </a:prstGeom>
          <a:noFill/>
        </p:spPr>
        <p:txBody>
          <a:bodyPr wrap="square">
            <a:spAutoFit/>
          </a:bodyPr>
          <a:lstStyle/>
          <a:p>
            <a:pPr algn="l"/>
            <a:r>
              <a:rPr sz="2800" b="1" i="0">
                <a:solidFill>
                  <a:srgbClr val="6B21A8"/>
                </a:solidFill>
              </a:rPr>
              <a:t>Support &amp; App Issues</a:t>
            </a:r>
          </a:p>
        </p:txBody>
      </p:sp>
      <p:sp>
        <p:nvSpPr>
          <p:cNvPr id="3" name="Rounded Rectangle 2"/>
          <p:cNvSpPr/>
          <p:nvPr/>
        </p:nvSpPr>
        <p:spPr>
          <a:xfrm>
            <a:off x="45720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234440"/>
            <a:ext cx="3200400" cy="960120"/>
          </a:xfrm>
          <a:prstGeom prst="rect">
            <a:avLst/>
          </a:prstGeom>
          <a:noFill/>
        </p:spPr>
        <p:txBody>
          <a:bodyPr wrap="square">
            <a:spAutoFit/>
          </a:bodyPr>
          <a:lstStyle/>
          <a:p>
            <a:pPr algn="l"/>
            <a:r>
              <a:rPr sz="1200" b="0" i="0">
                <a:solidFill>
                  <a:srgbClr val="FFFFFF"/>
                </a:solidFill>
              </a:rPr>
              <a:t>📸  Step 1: Take a screenshot of the error message or issue</a:t>
            </a:r>
          </a:p>
        </p:txBody>
      </p:sp>
      <p:sp>
        <p:nvSpPr>
          <p:cNvPr id="5" name="Rounded Rectangle 4"/>
          <p:cNvSpPr/>
          <p:nvPr/>
        </p:nvSpPr>
        <p:spPr>
          <a:xfrm>
            <a:off x="4206240"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43400" y="1234440"/>
            <a:ext cx="3200400" cy="960120"/>
          </a:xfrm>
          <a:prstGeom prst="rect">
            <a:avLst/>
          </a:prstGeom>
          <a:noFill/>
        </p:spPr>
        <p:txBody>
          <a:bodyPr wrap="square">
            <a:spAutoFit/>
          </a:bodyPr>
          <a:lstStyle/>
          <a:p>
            <a:pPr algn="l"/>
            <a:r>
              <a:rPr sz="1200" b="0" i="0">
                <a:solidFill>
                  <a:srgbClr val="FFFFFF"/>
                </a:solidFill>
              </a:rPr>
              <a:t>✉  Step 2: Email your Owner with a description and the screenshot attached</a:t>
            </a:r>
          </a:p>
        </p:txBody>
      </p:sp>
      <p:sp>
        <p:nvSpPr>
          <p:cNvPr id="7" name="Rounded Rectangle 6"/>
          <p:cNvSpPr/>
          <p:nvPr/>
        </p:nvSpPr>
        <p:spPr>
          <a:xfrm>
            <a:off x="7955279" y="1143000"/>
            <a:ext cx="3474720" cy="1280160"/>
          </a:xfrm>
          <a:prstGeom prst="roundRect">
            <a:avLst>
              <a:gd name="adj" fmla="val 6000"/>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1234440"/>
            <a:ext cx="3200400" cy="960120"/>
          </a:xfrm>
          <a:prstGeom prst="rect">
            <a:avLst/>
          </a:prstGeom>
          <a:noFill/>
        </p:spPr>
        <p:txBody>
          <a:bodyPr wrap="square">
            <a:spAutoFit/>
          </a:bodyPr>
          <a:lstStyle/>
          <a:p>
            <a:pPr algn="l"/>
            <a:r>
              <a:rPr sz="1200" b="0" i="0">
                <a:solidFill>
                  <a:srgbClr val="FFFFFF"/>
                </a:solidFill>
              </a:rPr>
              <a:t>📋  Step 3: Owner will forward to the developer for resolution</a:t>
            </a:r>
          </a:p>
        </p:txBody>
      </p:sp>
      <p:sp>
        <p:nvSpPr>
          <p:cNvPr id="9" name="Rounded Rectangle 8"/>
          <p:cNvSpPr/>
          <p:nvPr/>
        </p:nvSpPr>
        <p:spPr>
          <a:xfrm>
            <a:off x="457200" y="2697480"/>
            <a:ext cx="11274552" cy="1188720"/>
          </a:xfrm>
          <a:prstGeom prst="roundRect">
            <a:avLst>
              <a:gd name="adj" fmla="val 6000"/>
            </a:avLst>
          </a:prstGeom>
          <a:solidFill>
            <a:srgbClr val="7F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88920"/>
            <a:ext cx="10881360" cy="960120"/>
          </a:xfrm>
          <a:prstGeom prst="rect">
            <a:avLst/>
          </a:prstGeom>
          <a:noFill/>
        </p:spPr>
        <p:txBody>
          <a:bodyPr wrap="square">
            <a:spAutoFit/>
          </a:bodyPr>
          <a:lstStyle/>
          <a:p>
            <a:pPr algn="l"/>
            <a:r>
              <a:rPr sz="1400" b="1" i="0">
                <a:solidFill>
                  <a:srgbClr val="FFFFFF"/>
                </a:solidFill>
              </a:rPr>
              <a:t>⚠ Never share your login credentials. Do not clock in for another employee. Time fraud = immediate termination.</a:t>
            </a:r>
          </a:p>
        </p:txBody>
      </p:sp>
      <p:sp>
        <p:nvSpPr>
          <p:cNvPr id="11" name="TextBox 10"/>
          <p:cNvSpPr txBox="1"/>
          <p:nvPr/>
        </p:nvSpPr>
        <p:spPr>
          <a:xfrm>
            <a:off x="457200" y="4069080"/>
            <a:ext cx="10972800" cy="320040"/>
          </a:xfrm>
          <a:prstGeom prst="rect">
            <a:avLst/>
          </a:prstGeom>
          <a:noFill/>
        </p:spPr>
        <p:txBody>
          <a:bodyPr wrap="square">
            <a:spAutoFit/>
          </a:bodyPr>
          <a:lstStyle/>
          <a:p>
            <a:pPr algn="l"/>
            <a:r>
              <a:rPr sz="1200" b="0" i="0">
                <a:solidFill>
                  <a:srgbClr val="9CA3AF"/>
                </a:solidFill>
              </a:rPr>
              <a:t>fieldmanagerpro.app</a:t>
            </a:r>
          </a:p>
        </p:txBody>
      </p:sp>
      <p:pic>
        <p:nvPicPr>
          <p:cNvPr id="12" name="Picture 11" descr="Icon-1024.png"/>
          <p:cNvPicPr>
            <a:picLocks noChangeAspect="1"/>
          </p:cNvPicPr>
          <p:nvPr/>
        </p:nvPicPr>
        <p:blipFill>
          <a:blip r:embed="rId2"/>
          <a:stretch>
            <a:fillRect/>
          </a:stretch>
        </p:blipFill>
        <p:spPr>
          <a:xfrm>
            <a:off x="10520172" y="5280660"/>
            <a:ext cx="1440180" cy="1440180"/>
          </a:xfrm>
          <a:prstGeom prst="rect">
            <a:avLst/>
          </a:prstGeom>
        </p:spPr>
      </p:pic>
      <p:sp>
        <p:nvSpPr>
          <p:cNvPr id="13" name="Rounded Rectangle 12"/>
          <p:cNvSpPr/>
          <p:nvPr/>
        </p:nvSpPr>
        <p:spPr>
          <a:xfrm>
            <a:off x="10520172" y="5280660"/>
            <a:ext cx="1440180" cy="1440180"/>
          </a:xfrm>
          <a:prstGeom prst="roundRect">
            <a:avLst>
              <a:gd name="adj" fmla="val 22000"/>
            </a:avLst>
          </a:prstGeom>
          <a:no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6B21A8"/>
        </a:solidFill>
        <a:effectLst/>
      </p:bgPr>
    </p:bg>
    <p:spTree>
      <p:nvGrpSpPr>
        <p:cNvPr id="1" name=""/>
        <p:cNvGrpSpPr/>
        <p:nvPr/>
      </p:nvGrpSpPr>
      <p:grpSpPr/>
      <p:pic>
        <p:nvPicPr>
          <p:cNvPr id="2" name="Picture 1" descr="Icon-1024.png"/>
          <p:cNvPicPr>
            <a:picLocks noChangeAspect="1"/>
          </p:cNvPicPr>
          <p:nvPr/>
        </p:nvPicPr>
        <p:blipFill>
          <a:blip r:embed="rId2"/>
          <a:stretch>
            <a:fillRect/>
          </a:stretch>
        </p:blipFill>
        <p:spPr>
          <a:xfrm>
            <a:off x="3351276" y="685800"/>
            <a:ext cx="5486400" cy="5486400"/>
          </a:xfrm>
          <a:prstGeom prst="rect">
            <a:avLst/>
          </a:prstGeom>
        </p:spPr>
      </p:pic>
      <p:sp>
        <p:nvSpPr>
          <p:cNvPr id="3" name="TextBox 2"/>
          <p:cNvSpPr txBox="1"/>
          <p:nvPr/>
        </p:nvSpPr>
        <p:spPr>
          <a:xfrm>
            <a:off x="182880" y="18288"/>
            <a:ext cx="11823192" cy="640080"/>
          </a:xfrm>
          <a:prstGeom prst="rect">
            <a:avLst/>
          </a:prstGeom>
          <a:noFill/>
        </p:spPr>
        <p:txBody>
          <a:bodyPr wrap="none">
            <a:spAutoFit/>
          </a:bodyPr>
          <a:lstStyle/>
          <a:p>
            <a:pPr algn="ctr"/>
            <a:r>
              <a:rPr sz="5200" b="1">
                <a:solidFill>
                  <a:srgbClr val="FFFFFF"/>
                </a:solidFill>
              </a:rPr>
              <a:t>Welcome to Field Manager Pro</a:t>
            </a:r>
          </a:p>
        </p:txBody>
      </p:sp>
      <p:sp>
        <p:nvSpPr>
          <p:cNvPr id="4" name="TextBox 3"/>
          <p:cNvSpPr txBox="1"/>
          <p:nvPr/>
        </p:nvSpPr>
        <p:spPr>
          <a:xfrm>
            <a:off x="182880" y="6199632"/>
            <a:ext cx="11823192" cy="347472"/>
          </a:xfrm>
          <a:prstGeom prst="rect">
            <a:avLst/>
          </a:prstGeom>
          <a:noFill/>
        </p:spPr>
        <p:txBody>
          <a:bodyPr wrap="none">
            <a:spAutoFit/>
          </a:bodyPr>
          <a:lstStyle/>
          <a:p>
            <a:pPr algn="ctr"/>
            <a:r>
              <a:rPr sz="2000">
                <a:solidFill>
                  <a:srgbClr val="CCCCFF"/>
                </a:solidFill>
              </a:rPr>
              <a:t>You now have everything you need to get started.</a:t>
            </a:r>
          </a:p>
        </p:txBody>
      </p:sp>
      <p:sp>
        <p:nvSpPr>
          <p:cNvPr id="5" name="TextBox 4"/>
          <p:cNvSpPr txBox="1"/>
          <p:nvPr/>
        </p:nvSpPr>
        <p:spPr>
          <a:xfrm>
            <a:off x="182880" y="6565392"/>
            <a:ext cx="11823192" cy="274320"/>
          </a:xfrm>
          <a:prstGeom prst="rect">
            <a:avLst/>
          </a:prstGeom>
          <a:noFill/>
        </p:spPr>
        <p:txBody>
          <a:bodyPr wrap="none">
            <a:spAutoFit/>
          </a:bodyPr>
          <a:lstStyle/>
          <a:p>
            <a:pPr algn="ctr"/>
            <a:r>
              <a:rPr sz="1400">
                <a:solidFill>
                  <a:srgbClr val="BBBBEE"/>
                </a:solidFill>
              </a:rPr>
              <a:t>fieldmanagerpro.app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