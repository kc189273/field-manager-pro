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  <a:latin typeface="Calibri"/>
              </a:rPr>
              <a:t>FIELD MANAGER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Employee Accountability
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1D5DB"/>
                </a:solidFill>
                <a:latin typeface="Calibri"/>
              </a:rPr>
              <a:t>A guide for District Managers — Wireless Game Group 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Confidential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Why Accountability Documentation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53949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6400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Protects the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7556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Creates a legal paper trail that documents corrective action taken before any termination.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606040"/>
            <a:ext cx="53949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606040"/>
            <a:ext cx="6400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679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Protects the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9900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Proves you followed proper progressive discipline — not a spontaneous or discriminatory decision.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840480"/>
            <a:ext cx="53949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840480"/>
            <a:ext cx="6400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3913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Protects the 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422452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Gives every team member a clear, formal notice with expectations before consequences escalate.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5074920"/>
            <a:ext cx="53949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5074920"/>
            <a:ext cx="6400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148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Creates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545896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Ensures every DM handles performance issues the same way across all locations.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Three Levels of Accountability Notices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3749039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3749039" cy="50292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Verbal Notice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28800"/>
            <a:ext cx="3749039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659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Sent immediately upon submission.</a:t>
            </a:r>
          </a:p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No approval required.</a:t>
            </a:r>
          </a:p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Used for minor, first-time infractions.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749039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25880"/>
            <a:ext cx="3749039" cy="5029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371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LEVEL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Written Notice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828800"/>
            <a:ext cx="3749039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Requires Sales Director + Owner approval.</a:t>
            </a:r>
          </a:p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72-hour approval SLA.</a:t>
            </a:r>
          </a:p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Used for repeated or moderate violations.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325880"/>
            <a:ext cx="3749039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25880"/>
            <a:ext cx="3749039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71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LEVEL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Final Written Notice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3749039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19659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Requires Sales Director + Owner approval.</a:t>
            </a:r>
          </a:p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Includes termination warning language.</a:t>
            </a:r>
          </a:p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Used for serious or repeated violations.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Submitting an Accountability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539496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Open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9280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Tap Menu → Accountability. Tap the 'New Document' tab.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108960"/>
            <a:ext cx="539496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3108960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Select the Employee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Choose the team member from the Subject dropdown.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800600"/>
            <a:ext cx="539496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4800600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Choose Notice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7608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Select Verbal, Written (2nd), or Final Written (3rd) based on severity.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417320"/>
            <a:ext cx="539496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417320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5087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Fill in the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89280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Enter the incident date, a clear title, notes on what occurred, and expectations going forward.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108960"/>
            <a:ext cx="539496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108960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Prior Conversations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5844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Add any previous verbal discussions you had with the employee (optional but recommended).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800600"/>
            <a:ext cx="539496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800600"/>
            <a:ext cx="50292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8920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Acknowledge &amp; Submit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27608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Check the confirmation box and tap Submit. For Verbal, it sends immediately. For Written/Final, it goes to your SD for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Approval Flow — Written &amp; Final Notices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2148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1488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94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DM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70048"/>
            <a:ext cx="1965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Written or Final notice submitted in FMP. Status = Pending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194560"/>
            <a:ext cx="2148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194560"/>
            <a:ext cx="2148840" cy="41148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2494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SD Notified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70048"/>
            <a:ext cx="1965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Sales Director and Owner receive push + email notification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194560"/>
            <a:ext cx="2148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2194560"/>
            <a:ext cx="2148840" cy="411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494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72-Hour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70048"/>
            <a:ext cx="1965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Approver must act within 72 hours or Owner receives an escalation alert.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194560"/>
            <a:ext cx="2148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194560"/>
            <a:ext cx="2148840" cy="41148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2494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670048"/>
            <a:ext cx="1965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Formal document emailed to employee with one-time acknowledgment link.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194560"/>
            <a:ext cx="2148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2194560"/>
            <a:ext cx="2148840" cy="41148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2494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Rejected → Verbal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70048"/>
            <a:ext cx="1965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If rejected, a Verbal notice is auto-created and sent immediately. Original preserved for audit.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166360"/>
            <a:ext cx="11734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Note: Rejected Written/Final notices are preserved in the audit log. The auto-converted Verbal is sent in their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Employee Acknowledgment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7498079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What the employee receives: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  •  A formal HTML email that looks like an official HR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  •  Their name, the incident date, notice level, and document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  •  A one-time secure acknowledgment link (unique per document)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2900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  •  Language clarifying this is NOT an admission of guilt — only a receipt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31920"/>
            <a:ext cx="7132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  •  A note that failure to acknowledge may affect return-to-work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617720"/>
            <a:ext cx="7498079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24-Hour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292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If the employee has not acknowledged within 24 hours, you and your SD receive an automatic alert. After that window, administrative action may be taken.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325880"/>
            <a:ext cx="40233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You are notified when: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96596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Your document is approved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834639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834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Your document is rejected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370332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Employee acknowledges receipt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45720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24-hour ack window passes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What's Captured in Every Accountability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472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Reference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7647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Unique ID (e.g. ACC-2026-0001) — auto-generated, never reused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37744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3774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432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Notice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7249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Verbal / Written / Final Written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33756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337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685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Brief description of the issue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9768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2976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4352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Issued To /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4645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Employee name and the submitting DM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25780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52578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5312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Date of 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5605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The actual date the incident occurred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41732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41732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1472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Detailed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17647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Full narrative of what happened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37744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23774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24323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Expectations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27249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What the employee is expected to do going forward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33756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337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Prior Conversations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6850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Any verbal discussions that preceded this notice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29768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2976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352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Linked Verbal Notices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4645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Prior verbal notices on file for this employee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5257800"/>
            <a:ext cx="54864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52578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5312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6052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Every action (created, approved, rejected, acknowledged) is permanently timestamped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Your Accountability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Calibri"/>
              </a:rPr>
              <a:t>As a District Manager, your dashboard shows: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20240"/>
            <a:ext cx="3749039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New Document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4203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Submit a new Verbal, Written, or Final Written notice for any of your team members.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920240"/>
            <a:ext cx="3749039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920240"/>
            <a:ext cx="3749039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My Records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4203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View all accountability documents you have issued. Filter by date range or employee name.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920240"/>
            <a:ext cx="3749039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920240"/>
            <a:ext cx="3749039" cy="54864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Document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54203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Tap any record to see the full document, linked verbals, audit trail, and acknowledgment status.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709160"/>
            <a:ext cx="11734495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4709160"/>
            <a:ext cx="54864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800600"/>
            <a:ext cx="11551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Important: Immutable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138928"/>
            <a:ext cx="115516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Once submitted, accountability documents cannot be deleted or altered. Rejected notices are preserved in the audit log. This is intentional — it protects you and the business by maintaining a complete, tamper-proof record of all corrective action taken.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734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Rules &amp; Reminders for DMs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5486400" cy="5486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Always retain physical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FMP creates the digital record, but you must also keep any physical write-up forms, witness statements, or related evidence in a secure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06324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3063240"/>
            <a:ext cx="54864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1912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 the correct notice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Starting too high (e.g. jumping to Final) can create legal exposure. When in doubt, start with Verbal and escalate appropriately.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75488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4754880"/>
            <a:ext cx="5486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8828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 specific and factual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5780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Document exactly what happened — date, time, behavior, witnesses. Avoid vague language like 'bad attitude.' Use observable facts.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37160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486400" cy="54864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99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Expectations must be actionable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74519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The expectations section should tell the employee exactly what they need to do differently and by when.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06324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063240"/>
            <a:ext cx="54864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912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 not discuss the notice before submitting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6616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Once submitted and approved, the system handles formal delivery. Do not informally warn the employee that a notice is coming.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754880"/>
            <a:ext cx="54864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754880"/>
            <a:ext cx="5486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8828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Verbal notices are 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25780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Verbal notices bypass approval and are sent the moment you submit. Ensure everything is accurate before submitting.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8415" y="457200"/>
            <a:ext cx="54864" cy="5943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FIELD MANAGER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6432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Questions?
Contact your Sales Director
or the FMP support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36432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1D5DB"/>
                </a:solidFill>
                <a:latin typeface="Calibri"/>
              </a:rPr>
              <a:t>This process is designed to be fair, consistent, and legally protective for everyone involved.
Thank you for your commitment to leading your team with integrity.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286000"/>
            <a:ext cx="53643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  <a:latin typeface="Calibri"/>
              </a:rPr>
              <a:t>fieldmanagerpro.app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017520"/>
            <a:ext cx="53643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Wireless Game Group LLC
Confidential — Internal Use Only
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25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Inside the App — Submitting a Verbal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1825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  <a:latin typeface="Calibri"/>
              </a:rPr>
              <a:t>Step-by-step walkthrough with sample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926080" cy="55778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" y="1234440"/>
            <a:ext cx="2670048" cy="512064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31620" y="1271016"/>
            <a:ext cx="502920" cy="914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26187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CA3AF"/>
                </a:solidFill>
                <a:latin typeface="Calibri"/>
              </a:rPr>
              <a:t>9:41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127101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CA3AF"/>
                </a:solidFill>
                <a:latin typeface="Calibri"/>
              </a:rPr>
              <a:t>●●●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1435608"/>
            <a:ext cx="2670048" cy="292608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1490472"/>
            <a:ext cx="2670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1737360"/>
            <a:ext cx="133502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3080" y="1737360"/>
            <a:ext cx="1335024" cy="237744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" y="1783080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New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1783080"/>
            <a:ext cx="13350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9CA3AF"/>
                </a:solidFill>
                <a:latin typeface="Calibri"/>
              </a:rPr>
              <a:t>My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048256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  <a:latin typeface="Calibri"/>
              </a:rPr>
              <a:t>SUBJECT (EMPLOYEE)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2185416"/>
            <a:ext cx="2596896" cy="219456"/>
          </a:xfrm>
          <a:prstGeom prst="rect">
            <a:avLst/>
          </a:prstGeom>
          <a:solidFill>
            <a:srgbClr val="1F293D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2203704"/>
            <a:ext cx="2505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Alex Johnson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50592"/>
            <a:ext cx="26700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  <a:latin typeface="Calibri"/>
              </a:rPr>
              <a:t>NOTICE 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2606040"/>
            <a:ext cx="847344" cy="274320"/>
          </a:xfrm>
          <a:prstGeom prst="rect">
            <a:avLst/>
          </a:prstGeom>
          <a:solidFill>
            <a:srgbClr val="B45A09"/>
          </a:solidFill>
          <a:ln w="10160">
            <a:solidFill>
              <a:srgbClr val="B45A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642616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Verbal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0264" y="2606040"/>
            <a:ext cx="847344" cy="274320"/>
          </a:xfrm>
          <a:prstGeom prst="rect">
            <a:avLst/>
          </a:prstGeom>
          <a:solidFill>
            <a:srgbClr val="1F293D"/>
          </a:solidFill>
          <a:ln w="1016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0264" y="2642616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9CA3AF"/>
                </a:solidFill>
                <a:latin typeface="Calibri"/>
              </a:rPr>
              <a:t>Written 2nd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5896" y="2606040"/>
            <a:ext cx="847344" cy="274320"/>
          </a:xfrm>
          <a:prstGeom prst="rect">
            <a:avLst/>
          </a:prstGeom>
          <a:solidFill>
            <a:srgbClr val="1F293D"/>
          </a:solidFill>
          <a:ln w="1016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15896" y="2642616"/>
            <a:ext cx="847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9CA3AF"/>
                </a:solidFill>
                <a:latin typeface="Calibri"/>
              </a:rPr>
              <a:t>Final 3rd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935224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  <a:latin typeface="Calibri"/>
              </a:rPr>
              <a:t>DOCUMENT TITLE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3072384"/>
            <a:ext cx="2596896" cy="219456"/>
          </a:xfrm>
          <a:prstGeom prst="rect">
            <a:avLst/>
          </a:prstGeom>
          <a:solidFill>
            <a:srgbClr val="1F293D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" y="3090672"/>
            <a:ext cx="2505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Tardiness — Multiple Occurrences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337560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  <a:latin typeface="Calibri"/>
              </a:rPr>
              <a:t>DATE OF INCIDENT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3474720"/>
            <a:ext cx="2596896" cy="219456"/>
          </a:xfrm>
          <a:prstGeom prst="rect">
            <a:avLst/>
          </a:prstGeom>
          <a:solidFill>
            <a:srgbClr val="1F293D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3493008"/>
            <a:ext cx="2505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May 12,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739896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  <a:latin typeface="Calibri"/>
              </a:rPr>
              <a:t>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" y="3877056"/>
            <a:ext cx="2596896" cy="566928"/>
          </a:xfrm>
          <a:prstGeom prst="rect">
            <a:avLst/>
          </a:prstGeom>
          <a:solidFill>
            <a:srgbClr val="1F293D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3904487"/>
            <a:ext cx="25054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D1D5DB"/>
                </a:solidFill>
                <a:latin typeface="Calibri"/>
              </a:rPr>
              <a:t>Employee arrived 45 min late to opening shift on 05/12 without prior notification. This is the 3rd occurrence in 4 weeks.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471416"/>
            <a:ext cx="257860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  <a:latin typeface="Calibri"/>
              </a:rPr>
              <a:t>EXPECTATIONS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" y="4608576"/>
            <a:ext cx="2596896" cy="475488"/>
          </a:xfrm>
          <a:prstGeom prst="rect">
            <a:avLst/>
          </a:prstGeom>
          <a:solidFill>
            <a:srgbClr val="1F293D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4636007"/>
            <a:ext cx="25054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D1D5DB"/>
                </a:solidFill>
                <a:latin typeface="Calibri"/>
              </a:rPr>
              <a:t>Employee must arrive on time or notify management ≥2 hrs before shift. Next occurrence will result in a Written Notice.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111496"/>
            <a:ext cx="146304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5120640"/>
            <a:ext cx="12801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111496"/>
            <a:ext cx="23957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D1D5DB"/>
                </a:solidFill>
                <a:latin typeface="Calibri"/>
              </a:rPr>
              <a:t>I understand I must retain physical documentation on file.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" y="5385816"/>
            <a:ext cx="2596896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5437022"/>
            <a:ext cx="2596896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SUBMIT VERBAL NOTICE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960120"/>
            <a:ext cx="8396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each field means: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1325880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0" y="1325880"/>
            <a:ext cx="4572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5888" y="1380744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75888" y="1618488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Select from your assigned employees. Only your direct reports appear.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2093976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66160" y="2093976"/>
            <a:ext cx="45720" cy="71323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5888" y="2148840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Notice Level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75888" y="2386584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Verbal sends immediately. Written/Final go to your SD for approval first.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2862072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66160" y="2862072"/>
            <a:ext cx="45720" cy="7132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75888" y="2916936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75888" y="3154679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Short, factual description. This appears in the email subject line.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3630168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66160" y="3630168"/>
            <a:ext cx="45720" cy="7132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5888" y="3685031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Incident Date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5888" y="3922776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Use the actual date the event occurred — not today's date.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4398264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66160" y="4398264"/>
            <a:ext cx="4572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5888" y="4453127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75888" y="4690872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Full narrative — what happened, when, specifics. Be factual, not emotional.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5166360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566160" y="5166360"/>
            <a:ext cx="4572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75888" y="5221224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Expectations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75888" y="5458968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Tell the employee exactly what they must do differently and by when.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60" y="5934456"/>
            <a:ext cx="8396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66160" y="5934456"/>
            <a:ext cx="45720" cy="71323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75888" y="5989320"/>
            <a:ext cx="8232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Checkbox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75888" y="6227064"/>
            <a:ext cx="8232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You are confirming you will keep physical supporting docs (write-up forms, etc.).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25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Happens Immediately After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1825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  <a:latin typeface="Calibri"/>
              </a:rPr>
              <a:t>Verbal vs. Written/Final — two different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278892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" y="1188720"/>
            <a:ext cx="2532887" cy="493776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225296"/>
            <a:ext cx="502920" cy="914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1615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CA3AF"/>
                </a:solidFill>
                <a:latin typeface="Calibri"/>
              </a:rPr>
              <a:t>9:41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3" y="122529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CA3AF"/>
                </a:solidFill>
                <a:latin typeface="Calibri"/>
              </a:rPr>
              <a:t>●●●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389888"/>
            <a:ext cx="2532887" cy="292608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" y="1444752"/>
            <a:ext cx="2532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1773936"/>
            <a:ext cx="2386583" cy="3474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1975104"/>
            <a:ext cx="502920" cy="5029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0208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596896"/>
            <a:ext cx="25328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Notice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2889504"/>
            <a:ext cx="2350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1D5DB"/>
                </a:solidFill>
                <a:latin typeface="Calibri"/>
              </a:rPr>
              <a:t>Your Verbal Notice has been sent to Alex Johnson.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346704"/>
            <a:ext cx="2258568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438144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Ref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3060" y="3438144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ACC-2026-0001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" y="3694176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3813048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3060" y="3813048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Verbal Notice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" y="4069080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4187952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3060" y="4187952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4ADE80"/>
                </a:solidFill>
                <a:latin typeface="Calibri"/>
              </a:rPr>
              <a:t>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" y="4443984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4562856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Ack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3060" y="4562856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" y="4818888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59" y="6400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VERBAL NOTICE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" y="66294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Sends instantly — no approval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914400"/>
            <a:ext cx="278892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65576" y="1188720"/>
            <a:ext cx="2532887" cy="493776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1225296"/>
            <a:ext cx="502920" cy="914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8728" y="121615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CA3AF"/>
                </a:solidFill>
                <a:latin typeface="Calibri"/>
              </a:rPr>
              <a:t>9:41 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5544" y="122529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CA3AF"/>
                </a:solidFill>
                <a:latin typeface="Calibri"/>
              </a:rPr>
              <a:t>●●●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65576" y="1389888"/>
            <a:ext cx="2532887" cy="292608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65576" y="1444752"/>
            <a:ext cx="25328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38728" y="1773936"/>
            <a:ext cx="2386583" cy="3474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1975104"/>
            <a:ext cx="502920" cy="502920"/>
          </a:xfrm>
          <a:prstGeom prst="rect">
            <a:avLst/>
          </a:prstGeom>
          <a:solidFill>
            <a:srgbClr val="452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20116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BBF24"/>
                </a:solidFill>
                <a:latin typeface="Calibri"/>
              </a:rPr>
              <a:t>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65576" y="2596896"/>
            <a:ext cx="253288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Pending Approval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7016" y="2889504"/>
            <a:ext cx="2350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1D5DB"/>
                </a:solidFill>
                <a:latin typeface="Calibri"/>
              </a:rPr>
              <a:t>Submitted to your Sales Director and Owner for review.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02736" y="3346704"/>
            <a:ext cx="2258568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75304" y="3438144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Ref Number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2020" y="3438144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ACC-2026-0002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75304" y="3694176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75304" y="3813048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Level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32020" y="3813048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  <a:latin typeface="Calibri"/>
              </a:rPr>
              <a:t>Written — 2nd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75304" y="4069080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75304" y="4187952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32020" y="4187952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BBF24"/>
                </a:solidFill>
                <a:latin typeface="Calibri"/>
              </a:rPr>
              <a:t>Pending Approval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75304" y="4443984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75304" y="4562856"/>
            <a:ext cx="1139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SLA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2020" y="4562856"/>
            <a:ext cx="1165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BBF24"/>
                </a:solidFill>
                <a:latin typeface="Calibri"/>
              </a:rPr>
              <a:t>72 hrs remaining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75304" y="4818888"/>
            <a:ext cx="2313431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51860" y="6400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WRITTEN / FINAL NOTICE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66294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Routes to SD + Owner for approval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960120"/>
            <a:ext cx="5608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happens next: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1325880"/>
            <a:ext cx="560801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1325880"/>
            <a:ext cx="457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8" y="1380744"/>
            <a:ext cx="54434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Push Notification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0528" y="1618488"/>
            <a:ext cx="544342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Your SD receives: "New Written Notice submitted by [Your Name] for Alex Johnson — ACC-2026-0002. Approval required within 72 hours."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2395728"/>
            <a:ext cx="560801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2395728"/>
            <a:ext cx="45720" cy="100584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0528" y="2450592"/>
            <a:ext cx="54434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Email Notification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0528" y="2688336"/>
            <a:ext cx="544342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Formal email sent to SD and Owner with full document preview and an Approve / Reject action link.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465576"/>
            <a:ext cx="560801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3465576"/>
            <a:ext cx="45720" cy="100584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10528" y="3520440"/>
            <a:ext cx="54434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If Approved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8" y="3758184"/>
            <a:ext cx="544342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Employee receives formal notice email with a one-time acknowledgment link. You receive a push confirming approval.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4535424"/>
            <a:ext cx="560801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0" y="4535424"/>
            <a:ext cx="4572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10528" y="4590288"/>
            <a:ext cx="54434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If Rejected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0528" y="4828032"/>
            <a:ext cx="544342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A Verbal notice is auto-created under a new ref number and sent immediately. You receive a push explaining the rejection notes.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5605272"/>
            <a:ext cx="560801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00800" y="5605272"/>
            <a:ext cx="45720" cy="10058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10528" y="5660136"/>
            <a:ext cx="544342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72-Hour Escalation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0528" y="5897880"/>
            <a:ext cx="544342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If no action taken within 72 hours, the Organization Owner receives an escalation alert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25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the Employee Receives — Formal Notice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1825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  <a:latin typeface="Calibri"/>
              </a:rPr>
              <a:t>Sent automatically upon approval (or immediately for Verbal notices)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6583680" cy="5715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6583680" cy="5029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24128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  <a:latin typeface="Calibri"/>
              </a:rPr>
              <a:t>▼  From: noreply@fieldmanagerpro.app   |   To: alex.johnson@wirelessgame.com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6309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Calibri"/>
              </a:rPr>
              <a:t>Subject: Official Accountability Notice — ACC-2026-0001 | Verbal Notice — Action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527048"/>
            <a:ext cx="6364224" cy="50932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" y="1664207"/>
            <a:ext cx="5998464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700784"/>
            <a:ext cx="59984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94A3B8"/>
                </a:solidFill>
                <a:latin typeface="Calibri"/>
              </a:rPr>
              <a:t>FIELD MANAGER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1883663"/>
            <a:ext cx="59984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Official Accountability Notice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2139696"/>
            <a:ext cx="5998464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ACC-2026-0001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93792" y="2231136"/>
            <a:ext cx="1188720" cy="219456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22494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VERBAL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2542032"/>
            <a:ext cx="5998464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5786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Notice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39" y="2578608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293B"/>
                </a:solidFill>
                <a:latin typeface="Calibri"/>
              </a:rPr>
              <a:t>Verbal Notice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52927"/>
            <a:ext cx="5815583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29260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Issued 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2926079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293B"/>
                </a:solidFill>
                <a:latin typeface="Calibri"/>
              </a:rPr>
              <a:t>Alex Johnson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3200399"/>
            <a:ext cx="5815583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273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Issued 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39" y="3273552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293B"/>
                </a:solidFill>
                <a:latin typeface="Calibri"/>
              </a:rPr>
              <a:t>Marcus Williams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547872"/>
            <a:ext cx="5815583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36210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Date of Incident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39" y="3621024"/>
            <a:ext cx="2862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293B"/>
                </a:solidFill>
                <a:latin typeface="Calibri"/>
              </a:rPr>
              <a:t>May 12,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4050791"/>
            <a:ext cx="5998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" y="4050791"/>
            <a:ext cx="5998464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40873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Document Title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" y="4251959"/>
            <a:ext cx="57790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Tardiness — Multiple Occurrences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" y="4453128"/>
            <a:ext cx="5998464" cy="12618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4526280"/>
            <a:ext cx="5779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Calibri"/>
              </a:rPr>
              <a:t>Acknowledgment of Receipt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" y="4727448"/>
            <a:ext cx="577900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3A5F"/>
                </a:solidFill>
                <a:latin typeface="Calibri"/>
              </a:rPr>
              <a:t>By clicking "Acknowledge Receipt" below, you confirm that you have received and read
this official accountability document.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" y="5093208"/>
            <a:ext cx="5779007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20640"/>
            <a:ext cx="5669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334155"/>
                </a:solidFill>
                <a:latin typeface="Calibri"/>
              </a:rPr>
              <a:t>Important: This acknowledgment is not an admission of guilt. It is solely a confirmation that you have received this document.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" y="5404104"/>
            <a:ext cx="5779007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" y="5458968"/>
            <a:ext cx="577900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ACKNOWLEDGE RECEIPT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960120"/>
            <a:ext cx="4967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Email key elements: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1325880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86600" y="1325880"/>
            <a:ext cx="4572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6328" y="1380744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From 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328" y="1618488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Sent from noreply@fieldmanagerpro.app — professional, identifiable sender.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2093976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86600" y="2093976"/>
            <a:ext cx="45720" cy="7132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96328" y="2148840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Subject 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8" y="2386584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Includes the ref number, notice level, and "Action Required" so it cannot be ignored or missed.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2862072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2862072"/>
            <a:ext cx="4572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96328" y="2916936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Document Header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6328" y="3154679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Dark navy FMP header — formal HR document aesthetic, not a casual app notification.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3630168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86600" y="3630168"/>
            <a:ext cx="45720" cy="71323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6328" y="3685031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Notice Level Badge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96328" y="3922776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Color-coded badge (amber/orange/red) clearly identifies the severity level.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4398264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86600" y="4398264"/>
            <a:ext cx="45720" cy="7132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96328" y="4453127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Issued To / By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96328" y="4690872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Full names of the employee and the submitting DM — no ambiguity about who issued what.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86600" y="5166360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86600" y="5166360"/>
            <a:ext cx="4572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96328" y="5221224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Acknowledgment Section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6328" y="5458968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Includes exact verbatims: 'not an admission of guilt' and 'failure to acknowledge may affect return to work.'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6600" y="5934456"/>
            <a:ext cx="4967935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86600" y="5934456"/>
            <a:ext cx="45720" cy="7132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96328" y="5989320"/>
            <a:ext cx="48033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One-Time Link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96328" y="6227064"/>
            <a:ext cx="48033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The Acknowledge Receipt button is a unique, one-time-use secure link. Once clicked, it cannot be used again.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25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Acknowledgment Page — Employee's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1825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  <a:latin typeface="Calibri"/>
              </a:rPr>
              <a:t>Opens directly from the email link — no login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4114800" cy="5715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4114800" cy="32918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024128"/>
            <a:ext cx="31089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042416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33333"/>
                </a:solidFill>
                <a:latin typeface="Calibri"/>
              </a:rPr>
              <a:t>fieldmanagerpro.app/ack/a3f9c2...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078992"/>
            <a:ext cx="109728" cy="109728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078992"/>
            <a:ext cx="109728" cy="109728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078992"/>
            <a:ext cx="109728" cy="109728"/>
          </a:xfrm>
          <a:prstGeom prst="rect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289304"/>
            <a:ext cx="4114800" cy="53858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426464"/>
            <a:ext cx="3749039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453896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94A3B8"/>
                </a:solidFill>
                <a:latin typeface="Calibri"/>
              </a:rPr>
              <a:t>FIELD MANAGER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609344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Official Accountability Notice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65376"/>
            <a:ext cx="3749039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19293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ACC-2026-0001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79" y="1956816"/>
            <a:ext cx="896112" cy="201168"/>
          </a:xfrm>
          <a:prstGeom prst="rect">
            <a:avLst/>
          </a:prstGeom>
          <a:solidFill>
            <a:srgbClr val="92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79" y="1975104"/>
            <a:ext cx="8961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VERBAL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249424"/>
            <a:ext cx="3749039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860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Notice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286000"/>
            <a:ext cx="2240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E293B"/>
                </a:solidFill>
                <a:latin typeface="Calibri"/>
              </a:rPr>
              <a:t>Verbal Notice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2514600"/>
            <a:ext cx="360273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Issued 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578608"/>
            <a:ext cx="2240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E293B"/>
                </a:solidFill>
                <a:latin typeface="Calibri"/>
              </a:rPr>
              <a:t>Alex Johnson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" y="2807208"/>
            <a:ext cx="360273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87121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Issued 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871216"/>
            <a:ext cx="2240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E293B"/>
                </a:solidFill>
                <a:latin typeface="Calibri"/>
              </a:rPr>
              <a:t>Marcus Williams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3099816"/>
            <a:ext cx="360273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16382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Date of Incident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163824"/>
            <a:ext cx="2240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1E293B"/>
                </a:solidFill>
                <a:latin typeface="Calibri"/>
              </a:rPr>
              <a:t>May 12,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547872"/>
            <a:ext cx="3749039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547872"/>
            <a:ext cx="3749039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57015"/>
            <a:ext cx="1828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4748B"/>
                </a:solidFill>
                <a:latin typeface="Calibri"/>
              </a:rPr>
              <a:t>Document Title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675887"/>
            <a:ext cx="35661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Tardiness — Multiple Occurrences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931920"/>
            <a:ext cx="3749039" cy="254203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0507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3A5F"/>
                </a:solidFill>
                <a:latin typeface="Calibri"/>
              </a:rPr>
              <a:t>Acknowledgment of Receipt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2428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40AF"/>
                </a:solidFill>
                <a:latin typeface="Calibri"/>
              </a:rPr>
              <a:t>By clicking "Acknowledge Receipt" below, you confirm that you
have received and read this official accountability document.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626864"/>
            <a:ext cx="3566159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" y="4654296"/>
            <a:ext cx="34930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334155"/>
                </a:solidFill>
                <a:latin typeface="Calibri"/>
              </a:rPr>
              <a:t>Important: This acknowledgment is not an admission of guilt
or agreement with the contents of this document. It is solely
a confirmation that you have received it.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065776"/>
            <a:ext cx="3566159" cy="4572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065776"/>
            <a:ext cx="2286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093208"/>
            <a:ext cx="34930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Note: Failure to acknowledge receipt of this document may result
in administrative action, including restriction from returning to
scheduled work duties until acknowledgment is completed.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596128"/>
            <a:ext cx="3566159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696712"/>
            <a:ext cx="35661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ACKNOWLEDGE RECEIPT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80176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Your acknowledgment will be timestamped and your manager
will be notified immediately.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960120"/>
            <a:ext cx="74093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Exact verbatims — word for word: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1325880"/>
            <a:ext cx="74093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17720" y="1325880"/>
            <a:ext cx="4572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27448" y="1380744"/>
            <a:ext cx="7244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Acknowledgment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7448" y="1618488"/>
            <a:ext cx="7244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"By clicking 'Acknowledge Receipt' below, you confirm that you have received and read this official accountability document."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2395728"/>
            <a:ext cx="74093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17720" y="2395728"/>
            <a:ext cx="457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27448" y="2450592"/>
            <a:ext cx="7244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Not an Admission of Guilt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7448" y="2688336"/>
            <a:ext cx="7244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"This acknowledgment is not an admission of guilt or agreement with the contents of this document. It is solely a confirmation that you have received it."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465576"/>
            <a:ext cx="74093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465576"/>
            <a:ext cx="45720" cy="100584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27448" y="3520440"/>
            <a:ext cx="7244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Failure to Acknowledge Warning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27448" y="3758184"/>
            <a:ext cx="7244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"Failure to acknowledge receipt of this document may result in administrative action, including restriction from returning to scheduled work duties until acknowledgment is completed."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17720" y="4535424"/>
            <a:ext cx="74093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17720" y="4535424"/>
            <a:ext cx="45720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27448" y="4590288"/>
            <a:ext cx="7244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Timestamped Confirmation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27448" y="4828032"/>
            <a:ext cx="7244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"Your acknowledgment will be timestamped and your manager will be notified immediately."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5605272"/>
            <a:ext cx="74093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7720" y="5605272"/>
            <a:ext cx="45720" cy="100584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27448" y="5660136"/>
            <a:ext cx="72447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After Acknowledging (success screen)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27448" y="5897880"/>
            <a:ext cx="72447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"Your acknowledgment of receipt for document ACC-2026-0001 has been recorded and timestamped. Your manager has been notified."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7720" y="6565392"/>
            <a:ext cx="74093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Note: The link is single-use and token-based. No app login is required — it works directly from the employee's email.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825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After the Employee Acknowledges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804672"/>
            <a:ext cx="11825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78BFA"/>
                </a:solidFill>
                <a:latin typeface="Calibri"/>
              </a:rPr>
              <a:t>What the DM sees in the app — and what the employee sees on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274320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" y="1188720"/>
            <a:ext cx="2487168" cy="493776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48740" y="1225296"/>
            <a:ext cx="502920" cy="914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21615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CA3AF"/>
                </a:solidFill>
                <a:latin typeface="Calibri"/>
              </a:rPr>
              <a:t>9:41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3" y="122529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CA3AF"/>
                </a:solidFill>
                <a:latin typeface="Calibri"/>
              </a:rPr>
              <a:t>●●●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09928"/>
            <a:ext cx="2377439" cy="34747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5024" y="1892808"/>
            <a:ext cx="530352" cy="53035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1938528"/>
            <a:ext cx="512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542032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Acknowledgment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2852928"/>
            <a:ext cx="226771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1D5DB"/>
                </a:solidFill>
                <a:latin typeface="Calibri"/>
              </a:rPr>
              <a:t>Your acknowledgment of receipt for document ACC-2026-0001 has been recorded and timestamped. Your manager has been notified.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3511296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Reference: ACC-2026-0001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  <a:latin typeface="Calibri"/>
              </a:rPr>
              <a:t>EMPLOYEE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66019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After tapping 'Acknowledge Receipt'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914400"/>
            <a:ext cx="274320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4136" y="1188720"/>
            <a:ext cx="2487168" cy="493776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6260" y="1225296"/>
            <a:ext cx="502920" cy="9144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121615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CA3AF"/>
                </a:solidFill>
                <a:latin typeface="Calibri"/>
              </a:rPr>
              <a:t>9:41 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122529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CA3AF"/>
                </a:solidFill>
                <a:latin typeface="Calibri"/>
              </a:rPr>
              <a:t>●●●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74136" y="1389888"/>
            <a:ext cx="2487168" cy="292608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144475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74136" y="1691640"/>
            <a:ext cx="1243584" cy="237744"/>
          </a:xfrm>
          <a:prstGeom prst="rect">
            <a:avLst/>
          </a:prstGeom>
          <a:solidFill>
            <a:srgbClr val="1F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1691640"/>
            <a:ext cx="124358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4136" y="1737360"/>
            <a:ext cx="1243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9CA3AF"/>
                </a:solidFill>
                <a:latin typeface="Calibri"/>
              </a:rPr>
              <a:t>New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1737360"/>
            <a:ext cx="1243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My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002536"/>
            <a:ext cx="2377439" cy="1874519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83864" y="2093976"/>
            <a:ext cx="594360" cy="18288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2112264"/>
            <a:ext cx="594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VERBAL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93208" y="2093976"/>
            <a:ext cx="658368" cy="18288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3208" y="21122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" b="1" i="0">
                <a:solidFill>
                  <a:srgbClr val="4ADE80"/>
                </a:solidFill>
                <a:latin typeface="Calibri"/>
              </a:rPr>
              <a:t>ACKNOWLEDGED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2350008"/>
            <a:ext cx="22677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Tardiness — Multiple Occurrences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3864" y="2606040"/>
            <a:ext cx="2267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Alex Johnson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83864" y="2807208"/>
            <a:ext cx="226771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ACC-2026-0001  ·  May 12,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3864" y="3026664"/>
            <a:ext cx="2267711" cy="457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83864" y="3099815"/>
            <a:ext cx="2267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DE80"/>
                </a:solidFill>
                <a:latin typeface="Calibri"/>
              </a:rPr>
              <a:t>Ack'd at: May 13, 2026 — 8:47 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83864" y="3282696"/>
            <a:ext cx="2267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Ack'd by: Alex Johnson (via email link)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83864" y="3575304"/>
            <a:ext cx="2267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78BFA"/>
                </a:solidFill>
                <a:latin typeface="Calibri"/>
              </a:rPr>
              <a:t>Tap to view full document 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39" y="64008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  <a:latin typeface="Calibri"/>
              </a:rPr>
              <a:t>DM'S APP — MY RECORDS TAB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66019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Document shows 'Acknowledged' 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960120"/>
            <a:ext cx="5809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You also receive: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325880"/>
            <a:ext cx="58091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325880"/>
            <a:ext cx="457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1380744"/>
            <a:ext cx="5644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Push Notification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1618488"/>
            <a:ext cx="56445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"Alex Johnson acknowledged receipt of ACC-2026-0001."
Sent to you (the DM) within seconds of the employee tapping the button.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395728"/>
            <a:ext cx="58091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2395728"/>
            <a:ext cx="45720" cy="1005840"/>
          </a:xfrm>
          <a:prstGeom prst="rect">
            <a:avLst/>
          </a:prstGeom>
          <a:solidFill>
            <a:srgbClr val="166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2450592"/>
            <a:ext cx="5644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Record Updated in Real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2688336"/>
            <a:ext cx="56445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The document's Ack Status changes from 'Pending' to 'Acknowledged' instantly in your My Records tab. Timestamp and method are logged.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465576"/>
            <a:ext cx="58091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465576"/>
            <a:ext cx="45720" cy="10058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3520440"/>
            <a:ext cx="5644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Audit Log Entry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3758184"/>
            <a:ext cx="56445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The action 'acknowledged' is permanently recorded: 'Employee acknowledged receipt via email link' — timestamped, immutable.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535424"/>
            <a:ext cx="58091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535424"/>
            <a:ext cx="45720" cy="100584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590288"/>
            <a:ext cx="5644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If NOT Acknowledged in 24 Hours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4828032"/>
            <a:ext cx="56445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You AND your Sales Director receive an automatic alert. This triggers the 24-hour follow-up protocol described in policy Section 6.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5605272"/>
            <a:ext cx="5809183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5605272"/>
            <a:ext cx="4572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5660136"/>
            <a:ext cx="56445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If Employee Tries the Link Again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5897880"/>
            <a:ext cx="564459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The link shows: 'This document has already been acknowledged. No further action is required.' The one-time token is invalidated.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